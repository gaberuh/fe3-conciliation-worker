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8" r:id="rId2"/>
    <p:sldId id="257" r:id="rId3"/>
    <p:sldId id="258" r:id="rId4"/>
    <p:sldId id="271" r:id="rId5"/>
    <p:sldId id="260" r:id="rId6"/>
    <p:sldId id="269" r:id="rId7"/>
    <p:sldId id="272" r:id="rId8"/>
    <p:sldId id="265" r:id="rId9"/>
    <p:sldId id="266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2525"/>
    <a:srgbClr val="4A4A4A"/>
    <a:srgbClr val="F36203"/>
    <a:srgbClr val="2631FF"/>
    <a:srgbClr val="F9F9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16"/>
    <p:restoredTop sz="92928"/>
  </p:normalViewPr>
  <p:slideViewPr>
    <p:cSldViewPr snapToGrid="0" snapToObjects="1">
      <p:cViewPr>
        <p:scale>
          <a:sx n="162" d="100"/>
          <a:sy n="162" d="100"/>
        </p:scale>
        <p:origin x="1920" y="288"/>
      </p:cViewPr>
      <p:guideLst>
        <p:guide orient="horz" pos="35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705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Principais Benefícios</a:t>
            </a:r>
            <a:br>
              <a:rPr lang="pt-BR" b="1" dirty="0"/>
            </a:br>
            <a:r>
              <a:rPr lang="pt-BR" b="1" dirty="0"/>
              <a:t>1. Redução significativa do tempo de fechamento contábil</a:t>
            </a:r>
            <a:br>
              <a:rPr lang="pt-BR" dirty="0"/>
            </a:br>
            <a:r>
              <a:rPr lang="pt-BR" dirty="0"/>
              <a:t>A automação da conciliação no nível mais granular reduz atividades manuais, acelerando o fechamento e aumentando a previsibilidade dos prazos.</a:t>
            </a:r>
          </a:p>
          <a:p>
            <a:r>
              <a:rPr lang="pt-BR" b="1" dirty="0"/>
              <a:t>2. Rastreabilidade ponta a ponta dos eventos financeiros</a:t>
            </a:r>
            <a:br>
              <a:rPr lang="pt-BR" dirty="0"/>
            </a:br>
            <a:r>
              <a:rPr lang="pt-BR" dirty="0"/>
              <a:t>Permite acompanhar cada evento desde sua origem até o lançamento contábil, garantindo transparência total e facilitando auditorias e análises.</a:t>
            </a:r>
          </a:p>
          <a:p>
            <a:r>
              <a:rPr lang="pt-BR" b="1" dirty="0"/>
              <a:t>3. Identificação precisa e ágil de divergências</a:t>
            </a:r>
            <a:br>
              <a:rPr lang="pt-BR" dirty="0"/>
            </a:br>
            <a:r>
              <a:rPr lang="pt-BR" dirty="0"/>
              <a:t>A comparação automatizada entre eventos e lançamentos possibilita detectar inconsistências rapidamente, reduzindo o tempo de resolução de pendências.</a:t>
            </a:r>
          </a:p>
          <a:p>
            <a:r>
              <a:rPr lang="pt-BR" b="1" dirty="0"/>
              <a:t>4. Integração com o ecossistema contábil (legado e moderno)</a:t>
            </a:r>
            <a:br>
              <a:rPr lang="pt-BR" dirty="0"/>
            </a:br>
            <a:r>
              <a:rPr lang="pt-BR" dirty="0"/>
              <a:t>Conecta-se de forma padronizada com </a:t>
            </a:r>
            <a:r>
              <a:rPr lang="pt-BR" dirty="0" err="1"/>
              <a:t>roteirizadores</a:t>
            </a:r>
            <a:r>
              <a:rPr lang="pt-BR" dirty="0"/>
              <a:t> contábeis novos e sistemas legados, viabilizando uma evolução progressiva sem ruptura.</a:t>
            </a:r>
          </a:p>
          <a:p>
            <a:r>
              <a:rPr lang="pt-BR" b="1" dirty="0"/>
              <a:t>5. Escalabilidade e robustez para crescimento do banco</a:t>
            </a:r>
            <a:br>
              <a:rPr lang="pt-BR" dirty="0"/>
            </a:br>
            <a:r>
              <a:rPr lang="pt-BR" dirty="0"/>
              <a:t>Arquitetura baseada em data </a:t>
            </a:r>
            <a:r>
              <a:rPr lang="pt-BR" dirty="0" err="1"/>
              <a:t>mesh</a:t>
            </a:r>
            <a:r>
              <a:rPr lang="pt-BR" dirty="0"/>
              <a:t>, preparada para suportar múltiplos domínios e um volume de dados significativamente maior (10x ou mais), com responsabilidade distribuída sobre a qualidade dos dados.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954D6-899F-66F9-A444-9E084B793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A81146-2E8C-65FB-CB4C-89B4FCB76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1BB0D-A4ED-9D3F-80DF-E0434DA50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69339-C34F-A6D3-8273-DE337032E0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487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4DFE2-7508-329D-A019-B541CFBAA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445C9D-82C7-7B68-32C2-B73E067F4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D3B453-4E84-814F-7D2D-29B1D4DBD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A96D6-77D3-3C8A-BC4A-5237F3695B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687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48D31-668D-0292-0C08-659EF3D56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67B3F7-1860-3A2B-0DA6-628986BF88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DD096B-5551-311B-7E86-240ACAE39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76E88-B51B-C4FF-C185-9FDB77A8B0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9042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31">
            <a:extLst>
              <a:ext uri="{FF2B5EF4-FFF2-40B4-BE49-F238E27FC236}">
                <a16:creationId xmlns:a16="http://schemas.microsoft.com/office/drawing/2014/main" id="{D9E6F649-1D08-895B-8134-EB2D6F9E669B}"/>
              </a:ext>
            </a:extLst>
          </p:cNvPr>
          <p:cNvSpPr/>
          <p:nvPr/>
        </p:nvSpPr>
        <p:spPr>
          <a:xfrm>
            <a:off x="3845048" y="0"/>
            <a:ext cx="4161479" cy="5143500"/>
          </a:xfrm>
          <a:prstGeom prst="rect">
            <a:avLst/>
          </a:prstGeom>
          <a:solidFill>
            <a:srgbClr val="263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7C1EAFC4-B4B2-3D69-32CA-6834EDFCAC52}"/>
              </a:ext>
            </a:extLst>
          </p:cNvPr>
          <p:cNvGrpSpPr/>
          <p:nvPr/>
        </p:nvGrpSpPr>
        <p:grpSpPr>
          <a:xfrm>
            <a:off x="0" y="0"/>
            <a:ext cx="4890976" cy="5143500"/>
            <a:chOff x="1489316" y="726344"/>
            <a:chExt cx="3585959" cy="3771104"/>
          </a:xfrm>
          <a:noFill/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4FBFC104-9F42-0E33-D2D7-0CB570C0C63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4779" t="14629" r="24646" b="12053"/>
            <a:stretch>
              <a:fillRect/>
            </a:stretch>
          </p:blipFill>
          <p:spPr bwMode="auto">
            <a:xfrm>
              <a:off x="1489316" y="726344"/>
              <a:ext cx="3585959" cy="3771104"/>
            </a:xfrm>
            <a:prstGeom prst="rect">
              <a:avLst/>
            </a:prstGeom>
            <a:grp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6FF614EC-3ADF-4554-91F7-D72862774F9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9316" y="2091070"/>
              <a:ext cx="3259892" cy="1467294"/>
            </a:xfrm>
            <a:prstGeom prst="rect">
              <a:avLst/>
            </a:prstGeom>
            <a:grp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81902517-5795-A835-C57F-22BDBB1404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9316" y="2824717"/>
              <a:ext cx="3259892" cy="1467294"/>
            </a:xfrm>
            <a:prstGeom prst="rect">
              <a:avLst/>
            </a:prstGeom>
            <a:grp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Text 0">
            <a:extLst>
              <a:ext uri="{FF2B5EF4-FFF2-40B4-BE49-F238E27FC236}">
                <a16:creationId xmlns:a16="http://schemas.microsoft.com/office/drawing/2014/main" id="{6351776D-A127-0F2B-D74B-F2076D9BA197}"/>
              </a:ext>
            </a:extLst>
          </p:cNvPr>
          <p:cNvSpPr/>
          <p:nvPr/>
        </p:nvSpPr>
        <p:spPr>
          <a:xfrm>
            <a:off x="250025" y="714375"/>
            <a:ext cx="4343400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Roadmap de Entregas 2026</a:t>
            </a:r>
            <a:endParaRPr lang="en-US" sz="3294" dirty="0">
              <a:solidFill>
                <a:schemeClr val="bg1"/>
              </a:solidFill>
            </a:endParaRP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ACE9E436-8DB4-94CE-C614-26ED86179A78}"/>
              </a:ext>
            </a:extLst>
          </p:cNvPr>
          <p:cNvSpPr/>
          <p:nvPr/>
        </p:nvSpPr>
        <p:spPr>
          <a:xfrm>
            <a:off x="250025" y="1983060"/>
            <a:ext cx="4343400" cy="550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Ferramenta de </a:t>
            </a:r>
            <a:r>
              <a:rPr lang="en-US" sz="1704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Conciliação</a:t>
            </a:r>
            <a:r>
              <a:rPr lang="en-US" sz="1704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04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Contábil</a:t>
            </a:r>
            <a:endParaRPr lang="en-US" sz="1704" dirty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FE3 Match</a:t>
            </a:r>
            <a:endParaRPr lang="en-US" sz="1704" dirty="0">
              <a:solidFill>
                <a:schemeClr val="bg1"/>
              </a:solidFill>
            </a:endParaRP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BDFA9BCC-9880-696E-8A65-41622B46DFB5}"/>
              </a:ext>
            </a:extLst>
          </p:cNvPr>
          <p:cNvSpPr/>
          <p:nvPr/>
        </p:nvSpPr>
        <p:spPr>
          <a:xfrm>
            <a:off x="250025" y="4261247"/>
            <a:ext cx="3595023" cy="16979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Planejamento por Releases · Janeiro a Dezembro de 2026</a:t>
            </a:r>
            <a:endParaRPr lang="en-US" sz="1050" dirty="0">
              <a:solidFill>
                <a:schemeClr val="bg1"/>
              </a:solidFill>
            </a:endParaRP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FADFDE7B-1568-ADC0-C88D-02E6D37276F4}"/>
              </a:ext>
            </a:extLst>
          </p:cNvPr>
          <p:cNvCxnSpPr/>
          <p:nvPr/>
        </p:nvCxnSpPr>
        <p:spPr>
          <a:xfrm>
            <a:off x="250025" y="1861383"/>
            <a:ext cx="41219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2" descr="O Itaú é feito de futuro">
            <a:extLst>
              <a:ext uri="{FF2B5EF4-FFF2-40B4-BE49-F238E27FC236}">
                <a16:creationId xmlns:a16="http://schemas.microsoft.com/office/drawing/2014/main" id="{C7CA769E-F8DB-740F-5C26-CC4FE38B68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295" t="6798" r="24961" b="6536"/>
          <a:stretch>
            <a:fillRect/>
          </a:stretch>
        </p:blipFill>
        <p:spPr bwMode="auto">
          <a:xfrm>
            <a:off x="8554103" y="4637421"/>
            <a:ext cx="322544" cy="320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4330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428625" y="345774"/>
            <a:ext cx="8286750" cy="274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latin typeface="Roboto" pitchFamily="34" charset="0"/>
                <a:ea typeface="Roboto" pitchFamily="34" charset="-122"/>
                <a:cs typeface="Roboto" pitchFamily="34" charset="-120"/>
              </a:rPr>
              <a:t>A conciliação </a:t>
            </a:r>
            <a:r>
              <a:rPr lang="en-US" sz="1602" b="1" dirty="0" err="1">
                <a:latin typeface="Roboto" pitchFamily="34" charset="0"/>
                <a:ea typeface="Roboto" pitchFamily="34" charset="-122"/>
                <a:cs typeface="Roboto" pitchFamily="34" charset="-120"/>
              </a:rPr>
              <a:t>contábil</a:t>
            </a:r>
            <a:r>
              <a:rPr lang="en-US" sz="1602" b="1" dirty="0">
                <a:latin typeface="Roboto" pitchFamily="34" charset="0"/>
                <a:ea typeface="Roboto" pitchFamily="34" charset="-122"/>
                <a:cs typeface="Roboto" pitchFamily="34" charset="-120"/>
              </a:rPr>
              <a:t> digital reduz erros e acelera o </a:t>
            </a:r>
            <a:r>
              <a:rPr lang="en-US" sz="1602" b="1" dirty="0" err="1">
                <a:latin typeface="Roboto" pitchFamily="34" charset="0"/>
                <a:ea typeface="Roboto" pitchFamily="34" charset="-122"/>
                <a:cs typeface="Roboto" pitchFamily="34" charset="-120"/>
              </a:rPr>
              <a:t>fechamento</a:t>
            </a:r>
            <a:r>
              <a:rPr lang="en-US" sz="1602" b="1" dirty="0"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2" b="1" dirty="0" err="1">
                <a:latin typeface="Roboto" pitchFamily="34" charset="0"/>
                <a:ea typeface="Roboto" pitchFamily="34" charset="-122"/>
                <a:cs typeface="Roboto" pitchFamily="34" charset="-120"/>
              </a:rPr>
              <a:t>contábil</a:t>
            </a:r>
            <a:endParaRPr lang="en-US" sz="1602" b="1" dirty="0"/>
          </a:p>
        </p:txBody>
      </p:sp>
      <p:sp>
        <p:nvSpPr>
          <p:cNvPr id="6" name="Text 3"/>
          <p:cNvSpPr/>
          <p:nvPr/>
        </p:nvSpPr>
        <p:spPr>
          <a:xfrm>
            <a:off x="428625" y="1571625"/>
            <a:ext cx="1384225" cy="1676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2631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OBJETIVO DO PROJETO</a:t>
            </a:r>
            <a:endParaRPr lang="en-US" sz="987" dirty="0">
              <a:solidFill>
                <a:srgbClr val="2631FF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428625" y="1953816"/>
            <a:ext cx="3711178" cy="2585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pt-BR" sz="1400" dirty="0">
                <a:solidFill>
                  <a:srgbClr val="4A4A4A"/>
                </a:solidFill>
              </a:rPr>
              <a:t>A solução de conciliação contábil do Itaú tem como propósito ser a plataforma única de conciliação do banco, simplificando um processo historicamente complexo. Baseada em </a:t>
            </a:r>
            <a:r>
              <a:rPr lang="pt-BR" sz="1400" i="1" dirty="0">
                <a:solidFill>
                  <a:srgbClr val="4A4A4A"/>
                </a:solidFill>
              </a:rPr>
              <a:t>data </a:t>
            </a:r>
            <a:r>
              <a:rPr lang="pt-BR" sz="1400" i="1" dirty="0" err="1">
                <a:solidFill>
                  <a:srgbClr val="4A4A4A"/>
                </a:solidFill>
              </a:rPr>
              <a:t>mesh</a:t>
            </a:r>
            <a:r>
              <a:rPr lang="pt-BR" sz="1400" dirty="0">
                <a:solidFill>
                  <a:srgbClr val="4A4A4A"/>
                </a:solidFill>
              </a:rPr>
              <a:t>, estabelece que cada produto seja responsável pela qualidade dos seus dados, garantindo uma base confiável.</a:t>
            </a:r>
          </a:p>
          <a:p>
            <a:endParaRPr lang="pt-BR" sz="1400" dirty="0">
              <a:solidFill>
                <a:srgbClr val="4A4A4A"/>
              </a:solidFill>
            </a:endParaRPr>
          </a:p>
          <a:p>
            <a:r>
              <a:rPr lang="pt-BR" sz="1400" dirty="0">
                <a:solidFill>
                  <a:srgbClr val="4A4A4A"/>
                </a:solidFill>
              </a:rPr>
              <a:t>Com isso, o FE3 Match compara, de forma automatizada e no nível mais granular possível, os eventos financeiros com os lançamentos contábeis, permitindo identificar divergências com mais precisão e agilizar a regularização de pendências.</a:t>
            </a:r>
          </a:p>
        </p:txBody>
      </p:sp>
      <p:sp>
        <p:nvSpPr>
          <p:cNvPr id="8" name="Text 5"/>
          <p:cNvSpPr/>
          <p:nvPr/>
        </p:nvSpPr>
        <p:spPr>
          <a:xfrm>
            <a:off x="5004197" y="1571625"/>
            <a:ext cx="1429366" cy="1676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2631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PRINCIPAIS BENEFÍCIOS</a:t>
            </a:r>
            <a:endParaRPr lang="en-US" sz="987" dirty="0">
              <a:solidFill>
                <a:srgbClr val="2631FF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004197" y="1953816"/>
            <a:ext cx="3332644" cy="1683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pt-BR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Redução significativa do tempo de fechamento contábil</a:t>
            </a:r>
            <a:endParaRPr lang="en-US" sz="1050" dirty="0">
              <a:solidFill>
                <a:srgbClr val="4A4A4A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004197" y="2293144"/>
            <a:ext cx="3249287" cy="1683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pt-BR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Rastreabilidade ponta a ponta dos eventos financeiros</a:t>
            </a:r>
            <a:endParaRPr lang="en-US" sz="1050" dirty="0">
              <a:solidFill>
                <a:srgbClr val="4A4A4A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004197" y="2632472"/>
            <a:ext cx="2572820" cy="1683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pt-BR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Identificação precisa e ágil de divergências</a:t>
            </a:r>
            <a:endParaRPr lang="en-US" sz="1050" dirty="0">
              <a:solidFill>
                <a:srgbClr val="4A4A4A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004197" y="2971800"/>
            <a:ext cx="3573094" cy="1683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pt-BR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Integração com o ecossistema contábil (legado e moderno)</a:t>
            </a:r>
            <a:endParaRPr lang="en-US" sz="1050" dirty="0">
              <a:solidFill>
                <a:srgbClr val="4A4A4A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004197" y="3311128"/>
            <a:ext cx="3194785" cy="1683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pt-BR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Escalabilidade e robustez para crescimento do banco</a:t>
            </a:r>
            <a:endParaRPr lang="en-US" sz="1050" dirty="0">
              <a:solidFill>
                <a:srgbClr val="4A4A4A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pic>
        <p:nvPicPr>
          <p:cNvPr id="15" name="Picture 2" descr="O Itaú é feito de futuro">
            <a:extLst>
              <a:ext uri="{FF2B5EF4-FFF2-40B4-BE49-F238E27FC236}">
                <a16:creationId xmlns:a16="http://schemas.microsoft.com/office/drawing/2014/main" id="{F2810253-07DB-BB86-71F8-36F08E47BE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295" t="6798" r="24961" b="6536"/>
          <a:stretch>
            <a:fillRect/>
          </a:stretch>
        </p:blipFill>
        <p:spPr bwMode="auto">
          <a:xfrm>
            <a:off x="8554103" y="4637421"/>
            <a:ext cx="322544" cy="320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428625" y="345774"/>
            <a:ext cx="8286750" cy="274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latin typeface="Roboto" pitchFamily="34" charset="0"/>
                <a:ea typeface="Roboto" pitchFamily="34" charset="-122"/>
                <a:cs typeface="Roboto" pitchFamily="34" charset="-120"/>
              </a:rPr>
              <a:t>Quatro releases estruturam a evolução incremental da plataforma ao longo de 2026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1285875"/>
            <a:ext cx="8286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release entrega valor incremental ao negócio, com ciclos de validação e homologação integrados ao calendário de fechamento contábil do Itaú Uniclass.</a:t>
            </a:r>
            <a:endParaRPr lang="en-US" sz="1269" dirty="0"/>
          </a:p>
        </p:txBody>
      </p:sp>
      <p:sp>
        <p:nvSpPr>
          <p:cNvPr id="8" name="Shape 5"/>
          <p:cNvSpPr/>
          <p:nvPr/>
        </p:nvSpPr>
        <p:spPr>
          <a:xfrm>
            <a:off x="422274" y="2043113"/>
            <a:ext cx="1918800" cy="28575"/>
          </a:xfrm>
          <a:prstGeom prst="rect">
            <a:avLst/>
          </a:prstGeom>
          <a:solidFill>
            <a:srgbClr val="2631FF"/>
          </a:solidFill>
          <a:ln/>
        </p:spPr>
      </p:sp>
      <p:sp>
        <p:nvSpPr>
          <p:cNvPr id="12" name="Text 9"/>
          <p:cNvSpPr/>
          <p:nvPr/>
        </p:nvSpPr>
        <p:spPr>
          <a:xfrm>
            <a:off x="600075" y="2257425"/>
            <a:ext cx="674865" cy="1938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631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Release 1</a:t>
            </a:r>
            <a:endParaRPr lang="en-US" sz="1193" dirty="0">
              <a:solidFill>
                <a:srgbClr val="2631FF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600075" y="2571750"/>
            <a:ext cx="528991" cy="132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631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JAN – MAR</a:t>
            </a:r>
            <a:endParaRPr lang="en-US" sz="784" dirty="0">
              <a:solidFill>
                <a:srgbClr val="2631FF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600075" y="2877145"/>
            <a:ext cx="15573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Fundação e MVP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0075" y="3527227"/>
            <a:ext cx="617934" cy="203597"/>
          </a:xfrm>
          <a:prstGeom prst="rect">
            <a:avLst/>
          </a:prstGeom>
          <a:solidFill>
            <a:srgbClr val="F36203"/>
          </a:solidFill>
          <a:ln/>
        </p:spPr>
      </p:sp>
      <p:sp>
        <p:nvSpPr>
          <p:cNvPr id="16" name="Text 13"/>
          <p:cNvSpPr/>
          <p:nvPr/>
        </p:nvSpPr>
        <p:spPr>
          <a:xfrm>
            <a:off x="600075" y="3527227"/>
            <a:ext cx="617934" cy="212559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Concluído</a:t>
            </a:r>
            <a:endParaRPr lang="en-US" sz="683" dirty="0"/>
          </a:p>
        </p:txBody>
      </p:sp>
      <p:sp>
        <p:nvSpPr>
          <p:cNvPr id="18" name="Shape 15"/>
          <p:cNvSpPr/>
          <p:nvPr/>
        </p:nvSpPr>
        <p:spPr>
          <a:xfrm>
            <a:off x="2543174" y="2043113"/>
            <a:ext cx="1918800" cy="28575"/>
          </a:xfrm>
          <a:prstGeom prst="rect">
            <a:avLst/>
          </a:prstGeom>
          <a:solidFill>
            <a:srgbClr val="2631FF"/>
          </a:solidFill>
          <a:ln/>
        </p:spPr>
      </p:sp>
      <p:sp>
        <p:nvSpPr>
          <p:cNvPr id="22" name="Text 19"/>
          <p:cNvSpPr/>
          <p:nvPr/>
        </p:nvSpPr>
        <p:spPr>
          <a:xfrm>
            <a:off x="2718197" y="2257425"/>
            <a:ext cx="674865" cy="1938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631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Release 2</a:t>
            </a:r>
            <a:endParaRPr lang="en-US" sz="1193" dirty="0">
              <a:solidFill>
                <a:srgbClr val="2631FF"/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2718197" y="2571750"/>
            <a:ext cx="503343" cy="132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631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ABR – JUN</a:t>
            </a:r>
            <a:endParaRPr lang="en-US" sz="784" dirty="0">
              <a:solidFill>
                <a:srgbClr val="2631FF"/>
              </a:solidFill>
            </a:endParaRPr>
          </a:p>
        </p:txBody>
      </p:sp>
      <p:sp>
        <p:nvSpPr>
          <p:cNvPr id="24" name="Text 21"/>
          <p:cNvSpPr/>
          <p:nvPr/>
        </p:nvSpPr>
        <p:spPr>
          <a:xfrm>
            <a:off x="2718197" y="2877145"/>
            <a:ext cx="1560909" cy="189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 err="1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Expansão</a:t>
            </a: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 </a:t>
            </a:r>
            <a:r>
              <a:rPr lang="en-US" sz="1050" dirty="0" err="1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Conciliação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718197" y="3491508"/>
            <a:ext cx="617934" cy="203597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26" name="Text 23"/>
          <p:cNvSpPr/>
          <p:nvPr/>
        </p:nvSpPr>
        <p:spPr>
          <a:xfrm>
            <a:off x="2718197" y="3491508"/>
            <a:ext cx="617934" cy="212559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Execução</a:t>
            </a:r>
            <a:endParaRPr lang="en-US" sz="683" dirty="0"/>
          </a:p>
        </p:txBody>
      </p:sp>
      <p:sp>
        <p:nvSpPr>
          <p:cNvPr id="32" name="Text 29"/>
          <p:cNvSpPr/>
          <p:nvPr/>
        </p:nvSpPr>
        <p:spPr>
          <a:xfrm>
            <a:off x="4843463" y="2257425"/>
            <a:ext cx="674865" cy="1938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631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Release 3</a:t>
            </a:r>
            <a:endParaRPr lang="en-US" sz="1193" dirty="0">
              <a:solidFill>
                <a:srgbClr val="2631FF"/>
              </a:solidFill>
            </a:endParaRPr>
          </a:p>
        </p:txBody>
      </p:sp>
      <p:sp>
        <p:nvSpPr>
          <p:cNvPr id="33" name="Text 30"/>
          <p:cNvSpPr/>
          <p:nvPr/>
        </p:nvSpPr>
        <p:spPr>
          <a:xfrm>
            <a:off x="4843463" y="2571750"/>
            <a:ext cx="472886" cy="132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631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JUL – SET</a:t>
            </a:r>
            <a:endParaRPr lang="en-US" sz="784" dirty="0">
              <a:solidFill>
                <a:srgbClr val="2631FF"/>
              </a:solidFill>
            </a:endParaRPr>
          </a:p>
        </p:txBody>
      </p:sp>
      <p:sp>
        <p:nvSpPr>
          <p:cNvPr id="34" name="Text 31"/>
          <p:cNvSpPr/>
          <p:nvPr/>
        </p:nvSpPr>
        <p:spPr>
          <a:xfrm>
            <a:off x="4843463" y="2877145"/>
            <a:ext cx="1338508" cy="1890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 err="1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Gestão</a:t>
            </a: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</a:t>
            </a:r>
            <a:r>
              <a:rPr lang="en-US" sz="1050" dirty="0" err="1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Pendências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843463" y="3491508"/>
            <a:ext cx="617934" cy="203597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6" name="Text 33"/>
          <p:cNvSpPr/>
          <p:nvPr/>
        </p:nvSpPr>
        <p:spPr>
          <a:xfrm>
            <a:off x="4843463" y="3491508"/>
            <a:ext cx="617934" cy="203597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Planejado</a:t>
            </a:r>
            <a:endParaRPr lang="en-US" sz="683" dirty="0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928F3908-7C3D-2751-4332-AF8FA048ED42}"/>
              </a:ext>
            </a:extLst>
          </p:cNvPr>
          <p:cNvSpPr/>
          <p:nvPr/>
        </p:nvSpPr>
        <p:spPr>
          <a:xfrm>
            <a:off x="4661297" y="2043113"/>
            <a:ext cx="1921669" cy="1894879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Shape 35"/>
          <p:cNvSpPr/>
          <p:nvPr/>
        </p:nvSpPr>
        <p:spPr>
          <a:xfrm>
            <a:off x="6796881" y="2043113"/>
            <a:ext cx="1918800" cy="28575"/>
          </a:xfrm>
          <a:prstGeom prst="rect">
            <a:avLst/>
          </a:prstGeom>
          <a:solidFill>
            <a:srgbClr val="2631FF"/>
          </a:solidFill>
          <a:ln/>
        </p:spPr>
      </p:sp>
      <p:sp>
        <p:nvSpPr>
          <p:cNvPr id="42" name="Text 39"/>
          <p:cNvSpPr/>
          <p:nvPr/>
        </p:nvSpPr>
        <p:spPr>
          <a:xfrm>
            <a:off x="6975872" y="2257425"/>
            <a:ext cx="674865" cy="1938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631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Release 4</a:t>
            </a:r>
            <a:endParaRPr lang="en-US" sz="1193" dirty="0">
              <a:solidFill>
                <a:srgbClr val="2631FF"/>
              </a:solidFill>
            </a:endParaRPr>
          </a:p>
        </p:txBody>
      </p:sp>
      <p:sp>
        <p:nvSpPr>
          <p:cNvPr id="43" name="Text 40"/>
          <p:cNvSpPr/>
          <p:nvPr/>
        </p:nvSpPr>
        <p:spPr>
          <a:xfrm>
            <a:off x="6975872" y="2571750"/>
            <a:ext cx="495328" cy="132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631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 – DEZ</a:t>
            </a:r>
            <a:endParaRPr lang="en-US" sz="784" dirty="0">
              <a:solidFill>
                <a:srgbClr val="2631FF"/>
              </a:solidFill>
            </a:endParaRPr>
          </a:p>
        </p:txBody>
      </p:sp>
      <p:sp>
        <p:nvSpPr>
          <p:cNvPr id="44" name="Text 41"/>
          <p:cNvSpPr/>
          <p:nvPr/>
        </p:nvSpPr>
        <p:spPr>
          <a:xfrm>
            <a:off x="6975872" y="2877145"/>
            <a:ext cx="1038746" cy="1890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Plataforma </a:t>
            </a:r>
            <a:r>
              <a:rPr lang="en-US" sz="1050" dirty="0" err="1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Única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6975872" y="3491508"/>
            <a:ext cx="617934" cy="203597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46" name="Text 43"/>
          <p:cNvSpPr/>
          <p:nvPr/>
        </p:nvSpPr>
        <p:spPr>
          <a:xfrm>
            <a:off x="6975872" y="3491508"/>
            <a:ext cx="617934" cy="203597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Planejado</a:t>
            </a:r>
            <a:endParaRPr lang="en-US" sz="683" dirty="0"/>
          </a:p>
        </p:txBody>
      </p:sp>
      <p:pic>
        <p:nvPicPr>
          <p:cNvPr id="47" name="Picture 2" descr="O Itaú é feito de futuro">
            <a:extLst>
              <a:ext uri="{FF2B5EF4-FFF2-40B4-BE49-F238E27FC236}">
                <a16:creationId xmlns:a16="http://schemas.microsoft.com/office/drawing/2014/main" id="{293830DA-BDC8-F379-02A7-28C49FE3DC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295" t="6798" r="24961" b="6536"/>
          <a:stretch>
            <a:fillRect/>
          </a:stretch>
        </p:blipFill>
        <p:spPr bwMode="auto">
          <a:xfrm>
            <a:off x="8554103" y="4637421"/>
            <a:ext cx="322544" cy="320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hape 25"/>
          <p:cNvSpPr/>
          <p:nvPr/>
        </p:nvSpPr>
        <p:spPr>
          <a:xfrm>
            <a:off x="4664868" y="2043113"/>
            <a:ext cx="1918800" cy="28575"/>
          </a:xfrm>
          <a:prstGeom prst="rect">
            <a:avLst/>
          </a:prstGeom>
          <a:solidFill>
            <a:srgbClr val="2631FF"/>
          </a:solidFill>
          <a:ln/>
        </p:spPr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DFD9D54C-3E65-C55D-459E-38F56A0D5DDF}"/>
              </a:ext>
            </a:extLst>
          </p:cNvPr>
          <p:cNvSpPr/>
          <p:nvPr/>
        </p:nvSpPr>
        <p:spPr>
          <a:xfrm>
            <a:off x="417909" y="2043112"/>
            <a:ext cx="1921669" cy="1894879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0779459A-ED31-2016-352B-17E7A8FC0B20}"/>
              </a:ext>
            </a:extLst>
          </p:cNvPr>
          <p:cNvSpPr/>
          <p:nvPr/>
        </p:nvSpPr>
        <p:spPr>
          <a:xfrm>
            <a:off x="2539603" y="2043112"/>
            <a:ext cx="1921669" cy="1894879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D3FF0EB3-EF75-0DDE-AE29-F62231BA6E2E}"/>
              </a:ext>
            </a:extLst>
          </p:cNvPr>
          <p:cNvSpPr/>
          <p:nvPr/>
        </p:nvSpPr>
        <p:spPr>
          <a:xfrm>
            <a:off x="6793706" y="2043112"/>
            <a:ext cx="1921669" cy="1894879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A5F76-9A5E-4FE8-9B25-A00B51E46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89041A50-04EC-DC4B-4E1C-3B598F99F7FC}"/>
              </a:ext>
            </a:extLst>
          </p:cNvPr>
          <p:cNvSpPr/>
          <p:nvPr/>
        </p:nvSpPr>
        <p:spPr>
          <a:xfrm>
            <a:off x="428625" y="348292"/>
            <a:ext cx="7106112" cy="2747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latin typeface="Roboto" pitchFamily="34" charset="0"/>
                <a:ea typeface="Roboto" pitchFamily="34" charset="-122"/>
                <a:cs typeface="Roboto" pitchFamily="34" charset="-120"/>
              </a:rPr>
              <a:t>Release 1 expande as integrações e automatiza fluxos de aprovação contábil</a:t>
            </a:r>
            <a:endParaRPr lang="en-US" sz="1602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B98BB39-E146-DEA6-7DEE-D224D1022B6C}"/>
              </a:ext>
            </a:extLst>
          </p:cNvPr>
          <p:cNvSpPr/>
          <p:nvPr/>
        </p:nvSpPr>
        <p:spPr>
          <a:xfrm>
            <a:off x="428625" y="1428750"/>
            <a:ext cx="1039416" cy="357188"/>
          </a:xfrm>
          <a:prstGeom prst="rect">
            <a:avLst/>
          </a:prstGeom>
          <a:solidFill>
            <a:srgbClr val="2631FF"/>
          </a:solidFill>
          <a:ln/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6DCE276-B9E5-B2CF-1A87-E1071886690A}"/>
              </a:ext>
            </a:extLst>
          </p:cNvPr>
          <p:cNvSpPr/>
          <p:nvPr/>
        </p:nvSpPr>
        <p:spPr>
          <a:xfrm>
            <a:off x="428625" y="1428750"/>
            <a:ext cx="1039416" cy="296941"/>
          </a:xfrm>
          <a:prstGeom prst="rect">
            <a:avLst/>
          </a:prstGeom>
          <a:noFill/>
          <a:ln/>
        </p:spPr>
        <p:txBody>
          <a:bodyPr wrap="square" lIns="170053" tIns="102108" rIns="170053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Release 1</a:t>
            </a:r>
            <a:endParaRPr lang="en-US" sz="1193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F040479-B5A8-1166-1844-A16C4EA0DA70}"/>
              </a:ext>
            </a:extLst>
          </p:cNvPr>
          <p:cNvSpPr/>
          <p:nvPr/>
        </p:nvSpPr>
        <p:spPr>
          <a:xfrm>
            <a:off x="428625" y="2071688"/>
            <a:ext cx="417678" cy="132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latin typeface="Roboto" pitchFamily="34" charset="0"/>
                <a:ea typeface="Roboto" pitchFamily="34" charset="-122"/>
                <a:cs typeface="Roboto" pitchFamily="34" charset="-120"/>
              </a:rPr>
              <a:t>PERÍODO</a:t>
            </a:r>
            <a:endParaRPr lang="en-US" sz="784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59E49E4-8068-7D48-D646-46B3A54A737D}"/>
              </a:ext>
            </a:extLst>
          </p:cNvPr>
          <p:cNvSpPr/>
          <p:nvPr/>
        </p:nvSpPr>
        <p:spPr>
          <a:xfrm>
            <a:off x="428625" y="2262783"/>
            <a:ext cx="21431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Abril – Junho 2026</a:t>
            </a:r>
            <a:endParaRPr lang="en-US" sz="1269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55FF5C4-92FD-304D-7F29-C30107BC1ADA}"/>
              </a:ext>
            </a:extLst>
          </p:cNvPr>
          <p:cNvSpPr/>
          <p:nvPr/>
        </p:nvSpPr>
        <p:spPr>
          <a:xfrm>
            <a:off x="428625" y="2677120"/>
            <a:ext cx="793679" cy="132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latin typeface="Roboto" pitchFamily="34" charset="0"/>
                <a:ea typeface="Roboto" pitchFamily="34" charset="-122"/>
                <a:cs typeface="Roboto" pitchFamily="34" charset="-120"/>
              </a:rPr>
              <a:t>FOCO PRINCIPAL</a:t>
            </a:r>
            <a:endParaRPr lang="en-US" sz="784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0114828-67BA-6689-F1D3-C585DE43B9B8}"/>
              </a:ext>
            </a:extLst>
          </p:cNvPr>
          <p:cNvSpPr/>
          <p:nvPr/>
        </p:nvSpPr>
        <p:spPr>
          <a:xfrm>
            <a:off x="428625" y="2868216"/>
            <a:ext cx="21431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Automação e Integrações</a:t>
            </a:r>
            <a:endParaRPr lang="en-US" sz="1269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7EA3497-F7F2-1E98-F56A-0F3E06674CF0}"/>
              </a:ext>
            </a:extLst>
          </p:cNvPr>
          <p:cNvSpPr/>
          <p:nvPr/>
        </p:nvSpPr>
        <p:spPr>
          <a:xfrm>
            <a:off x="428625" y="3282553"/>
            <a:ext cx="894797" cy="132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latin typeface="Roboto" pitchFamily="34" charset="0"/>
                <a:ea typeface="Roboto" pitchFamily="34" charset="-122"/>
                <a:cs typeface="Roboto" pitchFamily="34" charset="-120"/>
              </a:rPr>
              <a:t>META DE ENTREGA</a:t>
            </a:r>
            <a:endParaRPr lang="en-US" sz="784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040F8DB-EA7C-4CF0-6D03-AE05EF900DEA}"/>
              </a:ext>
            </a:extLst>
          </p:cNvPr>
          <p:cNvSpPr/>
          <p:nvPr/>
        </p:nvSpPr>
        <p:spPr>
          <a:xfrm>
            <a:off x="428625" y="3473648"/>
            <a:ext cx="1404231" cy="1938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3620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de junho de 2026</a:t>
            </a:r>
            <a:endParaRPr lang="en-US" sz="1193" dirty="0">
              <a:solidFill>
                <a:srgbClr val="F36203"/>
              </a:solidFill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BC56DD0-5906-1C15-77AC-4A0B6274F3E2}"/>
              </a:ext>
            </a:extLst>
          </p:cNvPr>
          <p:cNvSpPr/>
          <p:nvPr/>
        </p:nvSpPr>
        <p:spPr>
          <a:xfrm>
            <a:off x="3000375" y="1357313"/>
            <a:ext cx="5715000" cy="785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CF2FDEB4-0214-C225-24E6-E5C07DD0A741}"/>
              </a:ext>
            </a:extLst>
          </p:cNvPr>
          <p:cNvSpPr/>
          <p:nvPr/>
        </p:nvSpPr>
        <p:spPr>
          <a:xfrm>
            <a:off x="3000375" y="1357313"/>
            <a:ext cx="5715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6E0170D0-6132-94FB-4889-679501705D33}"/>
              </a:ext>
            </a:extLst>
          </p:cNvPr>
          <p:cNvSpPr/>
          <p:nvPr/>
        </p:nvSpPr>
        <p:spPr>
          <a:xfrm>
            <a:off x="8708231" y="1357313"/>
            <a:ext cx="7144" cy="78581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A67B1F70-8B0D-FEDF-C92C-442AEB29C2DB}"/>
              </a:ext>
            </a:extLst>
          </p:cNvPr>
          <p:cNvSpPr/>
          <p:nvPr/>
        </p:nvSpPr>
        <p:spPr>
          <a:xfrm>
            <a:off x="3000375" y="2135981"/>
            <a:ext cx="5715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54ACAAE2-856B-A93B-3AAB-0913B28B68C9}"/>
              </a:ext>
            </a:extLst>
          </p:cNvPr>
          <p:cNvSpPr/>
          <p:nvPr/>
        </p:nvSpPr>
        <p:spPr>
          <a:xfrm>
            <a:off x="3000375" y="1357313"/>
            <a:ext cx="28575" cy="785813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4659B596-1225-40B8-CFCB-08328AF04B55}"/>
              </a:ext>
            </a:extLst>
          </p:cNvPr>
          <p:cNvSpPr/>
          <p:nvPr/>
        </p:nvSpPr>
        <p:spPr>
          <a:xfrm>
            <a:off x="3171825" y="1500188"/>
            <a:ext cx="517770" cy="228139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631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Janeiro</a:t>
            </a:r>
            <a:endParaRPr lang="en-US" sz="1193" dirty="0">
              <a:solidFill>
                <a:srgbClr val="2631FF"/>
              </a:solidFill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7D468665-5BD3-3E26-DCA0-A39EE65529F4}"/>
              </a:ext>
            </a:extLst>
          </p:cNvPr>
          <p:cNvSpPr/>
          <p:nvPr/>
        </p:nvSpPr>
        <p:spPr>
          <a:xfrm>
            <a:off x="4100513" y="1500188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Integração com ERP (SAP / TOTVS) via API REST</a:t>
            </a:r>
            <a:endParaRPr lang="en-US" sz="105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887B0E9D-1D28-2460-E69F-DA68286EEFB0}"/>
              </a:ext>
            </a:extLst>
          </p:cNvPr>
          <p:cNvSpPr/>
          <p:nvPr/>
        </p:nvSpPr>
        <p:spPr>
          <a:xfrm>
            <a:off x="4100513" y="1753791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Conciliação multi-empresa e multi-moeda</a:t>
            </a:r>
            <a:endParaRPr lang="en-US" sz="105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6C205F81-48F2-F56B-E2D0-6348F3ED9E8B}"/>
              </a:ext>
            </a:extLst>
          </p:cNvPr>
          <p:cNvSpPr/>
          <p:nvPr/>
        </p:nvSpPr>
        <p:spPr>
          <a:xfrm>
            <a:off x="3000375" y="2286000"/>
            <a:ext cx="5715000" cy="8322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3F047BC4-443A-3935-EA06-C62C05DD5092}"/>
              </a:ext>
            </a:extLst>
          </p:cNvPr>
          <p:cNvSpPr/>
          <p:nvPr/>
        </p:nvSpPr>
        <p:spPr>
          <a:xfrm>
            <a:off x="3000375" y="2286000"/>
            <a:ext cx="5715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59A2844C-9B6B-D006-4EA7-FB41FED77AA5}"/>
              </a:ext>
            </a:extLst>
          </p:cNvPr>
          <p:cNvSpPr/>
          <p:nvPr/>
        </p:nvSpPr>
        <p:spPr>
          <a:xfrm>
            <a:off x="8708231" y="2286000"/>
            <a:ext cx="7144" cy="832247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7AD2C536-9ECD-FB4F-9A35-9CB2A110A4F8}"/>
              </a:ext>
            </a:extLst>
          </p:cNvPr>
          <p:cNvSpPr/>
          <p:nvPr/>
        </p:nvSpPr>
        <p:spPr>
          <a:xfrm>
            <a:off x="3000375" y="3111103"/>
            <a:ext cx="5715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0D3C283D-EC90-F2DB-F923-FCF363BECB2F}"/>
              </a:ext>
            </a:extLst>
          </p:cNvPr>
          <p:cNvSpPr/>
          <p:nvPr/>
        </p:nvSpPr>
        <p:spPr>
          <a:xfrm>
            <a:off x="3000375" y="2286000"/>
            <a:ext cx="28575" cy="832247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4EAFD6AB-B7C6-DDD7-3BD3-FF099D148099}"/>
              </a:ext>
            </a:extLst>
          </p:cNvPr>
          <p:cNvSpPr/>
          <p:nvPr/>
        </p:nvSpPr>
        <p:spPr>
          <a:xfrm>
            <a:off x="3171825" y="2428875"/>
            <a:ext cx="649217" cy="228139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 err="1">
                <a:solidFill>
                  <a:srgbClr val="2631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Fevereiro</a:t>
            </a:r>
            <a:endParaRPr lang="en-US" sz="1193" dirty="0">
              <a:solidFill>
                <a:srgbClr val="2631FF"/>
              </a:solidFill>
            </a:endParaRP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ECEAF27D-F24D-125C-6E67-6A2E7C82F00D}"/>
              </a:ext>
            </a:extLst>
          </p:cNvPr>
          <p:cNvSpPr/>
          <p:nvPr/>
        </p:nvSpPr>
        <p:spPr>
          <a:xfrm>
            <a:off x="4100513" y="2428875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Workflow de aprovação de divergências (4 olhos)</a:t>
            </a:r>
            <a:endParaRPr lang="en-US" sz="105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89C7A0B0-487C-C450-ABFC-D607D3FDC840}"/>
              </a:ext>
            </a:extLst>
          </p:cNvPr>
          <p:cNvSpPr/>
          <p:nvPr/>
        </p:nvSpPr>
        <p:spPr>
          <a:xfrm>
            <a:off x="4100513" y="2682478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Notificações automáticas por e-mail e Teams</a:t>
            </a:r>
            <a:endParaRPr lang="en-US" sz="105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820FC349-51B2-BD80-2586-7C0AF82016B8}"/>
              </a:ext>
            </a:extLst>
          </p:cNvPr>
          <p:cNvSpPr/>
          <p:nvPr/>
        </p:nvSpPr>
        <p:spPr>
          <a:xfrm>
            <a:off x="4100513" y="2936081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Módulo de parametrização de regras de negócio</a:t>
            </a:r>
            <a:endParaRPr lang="en-US" sz="1050" dirty="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F504BC5B-5A85-6DC0-43B8-FE474AB28E51}"/>
              </a:ext>
            </a:extLst>
          </p:cNvPr>
          <p:cNvSpPr/>
          <p:nvPr/>
        </p:nvSpPr>
        <p:spPr>
          <a:xfrm>
            <a:off x="3000375" y="3246834"/>
            <a:ext cx="5715000" cy="8322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9E7B3AA0-1291-20E8-25F9-2EBD6E705B35}"/>
              </a:ext>
            </a:extLst>
          </p:cNvPr>
          <p:cNvSpPr/>
          <p:nvPr/>
        </p:nvSpPr>
        <p:spPr>
          <a:xfrm>
            <a:off x="3000375" y="3246834"/>
            <a:ext cx="5715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E98C90AF-80B4-C7A3-9AA6-FEFBF4C5BE6A}"/>
              </a:ext>
            </a:extLst>
          </p:cNvPr>
          <p:cNvSpPr/>
          <p:nvPr/>
        </p:nvSpPr>
        <p:spPr>
          <a:xfrm>
            <a:off x="8708231" y="3246834"/>
            <a:ext cx="7144" cy="832247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88575C6D-3F7F-FB2E-D42D-FE881B423E54}"/>
              </a:ext>
            </a:extLst>
          </p:cNvPr>
          <p:cNvSpPr/>
          <p:nvPr/>
        </p:nvSpPr>
        <p:spPr>
          <a:xfrm>
            <a:off x="3000375" y="4071938"/>
            <a:ext cx="5715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AD759647-5CC1-49D6-FC71-D6E31A4E1BEC}"/>
              </a:ext>
            </a:extLst>
          </p:cNvPr>
          <p:cNvSpPr/>
          <p:nvPr/>
        </p:nvSpPr>
        <p:spPr>
          <a:xfrm>
            <a:off x="3000375" y="3246834"/>
            <a:ext cx="28575" cy="832247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BAE3B6DD-F452-6F5E-217A-5CB0F1719486}"/>
              </a:ext>
            </a:extLst>
          </p:cNvPr>
          <p:cNvSpPr/>
          <p:nvPr/>
        </p:nvSpPr>
        <p:spPr>
          <a:xfrm>
            <a:off x="3171825" y="3389709"/>
            <a:ext cx="439223" cy="228139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 err="1">
                <a:solidFill>
                  <a:srgbClr val="2631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Março</a:t>
            </a:r>
            <a:endParaRPr lang="en-US" sz="1193" dirty="0">
              <a:solidFill>
                <a:srgbClr val="2631FF"/>
              </a:solidFill>
            </a:endParaRPr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B0818BAD-5C8B-241F-E9C2-F599B523D321}"/>
              </a:ext>
            </a:extLst>
          </p:cNvPr>
          <p:cNvSpPr/>
          <p:nvPr/>
        </p:nvSpPr>
        <p:spPr>
          <a:xfrm>
            <a:off x="4100513" y="3389709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operacional em tempo real</a:t>
            </a:r>
            <a:endParaRPr lang="en-US" sz="1050" dirty="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7EE1934D-D2B9-CCA9-D0C2-340D364BF376}"/>
              </a:ext>
            </a:extLst>
          </p:cNvPr>
          <p:cNvSpPr/>
          <p:nvPr/>
        </p:nvSpPr>
        <p:spPr>
          <a:xfrm>
            <a:off x="4100513" y="3643313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Testes de carga e performance (SLA &lt; 2s)</a:t>
            </a:r>
            <a:endParaRPr lang="en-US" sz="1050" dirty="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A5B315F2-8E81-FF25-365E-8B58C1740E58}"/>
              </a:ext>
            </a:extLst>
          </p:cNvPr>
          <p:cNvSpPr/>
          <p:nvPr/>
        </p:nvSpPr>
        <p:spPr>
          <a:xfrm>
            <a:off x="4100513" y="3896916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UAT R2 e go-live em ambiente produtivo</a:t>
            </a:r>
            <a:endParaRPr lang="en-US" sz="1050" dirty="0"/>
          </a:p>
        </p:txBody>
      </p:sp>
      <p:pic>
        <p:nvPicPr>
          <p:cNvPr id="2" name="Picture 2" descr="O Itaú é feito de futuro">
            <a:extLst>
              <a:ext uri="{FF2B5EF4-FFF2-40B4-BE49-F238E27FC236}">
                <a16:creationId xmlns:a16="http://schemas.microsoft.com/office/drawing/2014/main" id="{AEED7E04-F01A-5060-3909-37B360117A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295" t="6798" r="24961" b="6536"/>
          <a:stretch>
            <a:fillRect/>
          </a:stretch>
        </p:blipFill>
        <p:spPr bwMode="auto">
          <a:xfrm>
            <a:off x="8554103" y="4637421"/>
            <a:ext cx="322544" cy="320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2994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428625" y="348292"/>
            <a:ext cx="7106112" cy="2747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latin typeface="Roboto" pitchFamily="34" charset="0"/>
                <a:ea typeface="Roboto" pitchFamily="34" charset="-122"/>
                <a:cs typeface="Roboto" pitchFamily="34" charset="-120"/>
              </a:rPr>
              <a:t>Release 2 expande as integrações e automatiza fluxos de aprovação contábil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28625" y="1428750"/>
            <a:ext cx="1039416" cy="357188"/>
          </a:xfrm>
          <a:prstGeom prst="rect">
            <a:avLst/>
          </a:prstGeom>
          <a:solidFill>
            <a:srgbClr val="2631FF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428750"/>
            <a:ext cx="1039416" cy="357188"/>
          </a:xfrm>
          <a:prstGeom prst="rect">
            <a:avLst/>
          </a:prstGeom>
          <a:noFill/>
          <a:ln/>
        </p:spPr>
        <p:txBody>
          <a:bodyPr wrap="square" lIns="170053" tIns="102108" rIns="170053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Release 2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428625" y="2071688"/>
            <a:ext cx="417678" cy="132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latin typeface="Roboto" pitchFamily="34" charset="0"/>
                <a:ea typeface="Roboto" pitchFamily="34" charset="-122"/>
                <a:cs typeface="Roboto" pitchFamily="34" charset="-120"/>
              </a:rPr>
              <a:t>PERÍODO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428625" y="2262783"/>
            <a:ext cx="21431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Abril – Junho 2026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428625" y="2677120"/>
            <a:ext cx="793679" cy="132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latin typeface="Roboto" pitchFamily="34" charset="0"/>
                <a:ea typeface="Roboto" pitchFamily="34" charset="-122"/>
                <a:cs typeface="Roboto" pitchFamily="34" charset="-120"/>
              </a:rPr>
              <a:t>FOCO PRINCIPAL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428625" y="2868216"/>
            <a:ext cx="21431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Automação e Integrações</a:t>
            </a:r>
            <a:endParaRPr lang="en-US" sz="1269" dirty="0"/>
          </a:p>
        </p:txBody>
      </p:sp>
      <p:sp>
        <p:nvSpPr>
          <p:cNvPr id="12" name="Text 9"/>
          <p:cNvSpPr/>
          <p:nvPr/>
        </p:nvSpPr>
        <p:spPr>
          <a:xfrm>
            <a:off x="428625" y="3282553"/>
            <a:ext cx="894797" cy="132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latin typeface="Roboto" pitchFamily="34" charset="0"/>
                <a:ea typeface="Roboto" pitchFamily="34" charset="-122"/>
                <a:cs typeface="Roboto" pitchFamily="34" charset="-120"/>
              </a:rPr>
              <a:t>META DE ENTREGA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428625" y="3473648"/>
            <a:ext cx="1404231" cy="1938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3620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de junho de 2026</a:t>
            </a:r>
            <a:endParaRPr lang="en-US" sz="1193" dirty="0">
              <a:solidFill>
                <a:srgbClr val="F36203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000375" y="1357313"/>
            <a:ext cx="5715000" cy="785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3000375" y="1357313"/>
            <a:ext cx="5715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Shape 13"/>
          <p:cNvSpPr/>
          <p:nvPr/>
        </p:nvSpPr>
        <p:spPr>
          <a:xfrm>
            <a:off x="8708231" y="1357313"/>
            <a:ext cx="7144" cy="78581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Shape 14"/>
          <p:cNvSpPr/>
          <p:nvPr/>
        </p:nvSpPr>
        <p:spPr>
          <a:xfrm>
            <a:off x="3000375" y="2135981"/>
            <a:ext cx="5715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3000375" y="1357313"/>
            <a:ext cx="28575" cy="785813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19" name="Text 16"/>
          <p:cNvSpPr/>
          <p:nvPr/>
        </p:nvSpPr>
        <p:spPr>
          <a:xfrm>
            <a:off x="3171825" y="1500188"/>
            <a:ext cx="325410" cy="228139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631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Abril</a:t>
            </a:r>
            <a:endParaRPr lang="en-US" sz="1193" dirty="0">
              <a:solidFill>
                <a:srgbClr val="2631FF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4100513" y="1500188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Integração com ERP (SAP / TOTVS) via API REST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100513" y="1753791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Conciliação multi-empresa e multi-moeda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000375" y="2286000"/>
            <a:ext cx="5715000" cy="8322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3000375" y="2286000"/>
            <a:ext cx="5715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4" name="Shape 21"/>
          <p:cNvSpPr/>
          <p:nvPr/>
        </p:nvSpPr>
        <p:spPr>
          <a:xfrm>
            <a:off x="8708231" y="2286000"/>
            <a:ext cx="7144" cy="832247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Shape 22"/>
          <p:cNvSpPr/>
          <p:nvPr/>
        </p:nvSpPr>
        <p:spPr>
          <a:xfrm>
            <a:off x="3000375" y="3111103"/>
            <a:ext cx="5715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6" name="Shape 23"/>
          <p:cNvSpPr/>
          <p:nvPr/>
        </p:nvSpPr>
        <p:spPr>
          <a:xfrm>
            <a:off x="3000375" y="2286000"/>
            <a:ext cx="28575" cy="832247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27" name="Text 24"/>
          <p:cNvSpPr/>
          <p:nvPr/>
        </p:nvSpPr>
        <p:spPr>
          <a:xfrm>
            <a:off x="3171825" y="2428875"/>
            <a:ext cx="343043" cy="228204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631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Maio</a:t>
            </a:r>
            <a:endParaRPr lang="en-US" sz="1193" dirty="0">
              <a:solidFill>
                <a:srgbClr val="2631FF"/>
              </a:solidFill>
            </a:endParaRPr>
          </a:p>
        </p:txBody>
      </p:sp>
      <p:sp>
        <p:nvSpPr>
          <p:cNvPr id="28" name="Text 25"/>
          <p:cNvSpPr/>
          <p:nvPr/>
        </p:nvSpPr>
        <p:spPr>
          <a:xfrm>
            <a:off x="4100513" y="2428875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Workflow de aprovação de divergências (4 olhos)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100513" y="2682478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Notificações automáticas por e-mail e Teams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100513" y="2936081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Módulo de parametrização de regras de negócio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000375" y="3246834"/>
            <a:ext cx="5715000" cy="8322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9"/>
          <p:cNvSpPr/>
          <p:nvPr/>
        </p:nvSpPr>
        <p:spPr>
          <a:xfrm>
            <a:off x="3000375" y="3246834"/>
            <a:ext cx="5715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Shape 30"/>
          <p:cNvSpPr/>
          <p:nvPr/>
        </p:nvSpPr>
        <p:spPr>
          <a:xfrm>
            <a:off x="8708231" y="3246834"/>
            <a:ext cx="7144" cy="832247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4" name="Shape 31"/>
          <p:cNvSpPr/>
          <p:nvPr/>
        </p:nvSpPr>
        <p:spPr>
          <a:xfrm>
            <a:off x="3000375" y="4071938"/>
            <a:ext cx="5715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5" name="Shape 32"/>
          <p:cNvSpPr/>
          <p:nvPr/>
        </p:nvSpPr>
        <p:spPr>
          <a:xfrm>
            <a:off x="3000375" y="3246834"/>
            <a:ext cx="28575" cy="832247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6" name="Text 33"/>
          <p:cNvSpPr/>
          <p:nvPr/>
        </p:nvSpPr>
        <p:spPr>
          <a:xfrm>
            <a:off x="3171825" y="3389709"/>
            <a:ext cx="426399" cy="228204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631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Junho</a:t>
            </a:r>
            <a:endParaRPr lang="en-US" sz="1193" dirty="0">
              <a:solidFill>
                <a:srgbClr val="2631FF"/>
              </a:solidFill>
            </a:endParaRPr>
          </a:p>
        </p:txBody>
      </p:sp>
      <p:sp>
        <p:nvSpPr>
          <p:cNvPr id="37" name="Text 34"/>
          <p:cNvSpPr/>
          <p:nvPr/>
        </p:nvSpPr>
        <p:spPr>
          <a:xfrm>
            <a:off x="4100513" y="3389709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operacional em tempo real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100513" y="3643313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Testes de carga e performance (SLA &lt; 2s)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4100513" y="3896916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UAT R2 e go-live em ambiente produtivo</a:t>
            </a:r>
            <a:endParaRPr lang="en-US" sz="1050" dirty="0"/>
          </a:p>
        </p:txBody>
      </p:sp>
      <p:pic>
        <p:nvPicPr>
          <p:cNvPr id="40" name="Picture 2" descr="O Itaú é feito de futuro">
            <a:extLst>
              <a:ext uri="{FF2B5EF4-FFF2-40B4-BE49-F238E27FC236}">
                <a16:creationId xmlns:a16="http://schemas.microsoft.com/office/drawing/2014/main" id="{466BBA48-CFA1-C379-A460-BC6A47CD6D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295" t="6798" r="24961" b="6536"/>
          <a:stretch>
            <a:fillRect/>
          </a:stretch>
        </p:blipFill>
        <p:spPr bwMode="auto">
          <a:xfrm>
            <a:off x="8554103" y="4637421"/>
            <a:ext cx="322544" cy="320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C53C5-5144-A0DF-E174-FAFAA8E9E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1879FAB2-C9CB-E102-76EA-36C679212149}"/>
              </a:ext>
            </a:extLst>
          </p:cNvPr>
          <p:cNvSpPr/>
          <p:nvPr/>
        </p:nvSpPr>
        <p:spPr>
          <a:xfrm>
            <a:off x="428625" y="348292"/>
            <a:ext cx="7106112" cy="2747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latin typeface="Roboto" pitchFamily="34" charset="0"/>
                <a:ea typeface="Roboto" pitchFamily="34" charset="-122"/>
                <a:cs typeface="Roboto" pitchFamily="34" charset="-120"/>
              </a:rPr>
              <a:t>Release 3 expande as integrações e automatiza fluxos de aprovação contábil</a:t>
            </a:r>
            <a:endParaRPr lang="en-US" sz="1602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1C04ED6-34EA-9C21-B55E-FD3E74ACDCB6}"/>
              </a:ext>
            </a:extLst>
          </p:cNvPr>
          <p:cNvSpPr/>
          <p:nvPr/>
        </p:nvSpPr>
        <p:spPr>
          <a:xfrm>
            <a:off x="428625" y="1428750"/>
            <a:ext cx="1039416" cy="357188"/>
          </a:xfrm>
          <a:prstGeom prst="rect">
            <a:avLst/>
          </a:prstGeom>
          <a:solidFill>
            <a:srgbClr val="2631FF"/>
          </a:solidFill>
          <a:ln/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9DE551F-4838-2592-6305-94C0CACE4E8D}"/>
              </a:ext>
            </a:extLst>
          </p:cNvPr>
          <p:cNvSpPr/>
          <p:nvPr/>
        </p:nvSpPr>
        <p:spPr>
          <a:xfrm>
            <a:off x="428625" y="1428750"/>
            <a:ext cx="1039416" cy="296941"/>
          </a:xfrm>
          <a:prstGeom prst="rect">
            <a:avLst/>
          </a:prstGeom>
          <a:noFill/>
          <a:ln/>
        </p:spPr>
        <p:txBody>
          <a:bodyPr wrap="square" lIns="170053" tIns="102108" rIns="170053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Release 3</a:t>
            </a:r>
            <a:endParaRPr lang="en-US" sz="1193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C74DCC4-CA49-663B-E02A-0F77D768B000}"/>
              </a:ext>
            </a:extLst>
          </p:cNvPr>
          <p:cNvSpPr/>
          <p:nvPr/>
        </p:nvSpPr>
        <p:spPr>
          <a:xfrm>
            <a:off x="428625" y="2071688"/>
            <a:ext cx="417678" cy="132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latin typeface="Roboto" pitchFamily="34" charset="0"/>
                <a:ea typeface="Roboto" pitchFamily="34" charset="-122"/>
                <a:cs typeface="Roboto" pitchFamily="34" charset="-120"/>
              </a:rPr>
              <a:t>PERÍODO</a:t>
            </a:r>
            <a:endParaRPr lang="en-US" sz="784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F6B6307-E613-0DA1-7B2A-B44196B4C3BB}"/>
              </a:ext>
            </a:extLst>
          </p:cNvPr>
          <p:cNvSpPr/>
          <p:nvPr/>
        </p:nvSpPr>
        <p:spPr>
          <a:xfrm>
            <a:off x="428625" y="2262783"/>
            <a:ext cx="21431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Abril – Junho 2026</a:t>
            </a:r>
            <a:endParaRPr lang="en-US" sz="1269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6EA515A-E4E1-B3ED-A871-E011664917EC}"/>
              </a:ext>
            </a:extLst>
          </p:cNvPr>
          <p:cNvSpPr/>
          <p:nvPr/>
        </p:nvSpPr>
        <p:spPr>
          <a:xfrm>
            <a:off x="428625" y="2677120"/>
            <a:ext cx="793679" cy="132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latin typeface="Roboto" pitchFamily="34" charset="0"/>
                <a:ea typeface="Roboto" pitchFamily="34" charset="-122"/>
                <a:cs typeface="Roboto" pitchFamily="34" charset="-120"/>
              </a:rPr>
              <a:t>FOCO PRINCIPAL</a:t>
            </a:r>
            <a:endParaRPr lang="en-US" sz="784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C65DF7A-80E1-1E54-E97B-B9C25FF525C7}"/>
              </a:ext>
            </a:extLst>
          </p:cNvPr>
          <p:cNvSpPr/>
          <p:nvPr/>
        </p:nvSpPr>
        <p:spPr>
          <a:xfrm>
            <a:off x="428625" y="2868216"/>
            <a:ext cx="21431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Automação e Integrações</a:t>
            </a:r>
            <a:endParaRPr lang="en-US" sz="1269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CD7F3D8-F08C-8900-3648-CE37C73ABC75}"/>
              </a:ext>
            </a:extLst>
          </p:cNvPr>
          <p:cNvSpPr/>
          <p:nvPr/>
        </p:nvSpPr>
        <p:spPr>
          <a:xfrm>
            <a:off x="428625" y="3282553"/>
            <a:ext cx="894797" cy="132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latin typeface="Roboto" pitchFamily="34" charset="0"/>
                <a:ea typeface="Roboto" pitchFamily="34" charset="-122"/>
                <a:cs typeface="Roboto" pitchFamily="34" charset="-120"/>
              </a:rPr>
              <a:t>META DE ENTREGA</a:t>
            </a:r>
            <a:endParaRPr lang="en-US" sz="784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1D3BEB9-30E7-CBA1-F334-C450873A223C}"/>
              </a:ext>
            </a:extLst>
          </p:cNvPr>
          <p:cNvSpPr/>
          <p:nvPr/>
        </p:nvSpPr>
        <p:spPr>
          <a:xfrm>
            <a:off x="428625" y="3473648"/>
            <a:ext cx="1404231" cy="1938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3620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de junho de 2026</a:t>
            </a:r>
            <a:endParaRPr lang="en-US" sz="1193" dirty="0">
              <a:solidFill>
                <a:srgbClr val="F36203"/>
              </a:solidFill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D06FC86C-FE68-89B9-BE3F-E8CC5991FA04}"/>
              </a:ext>
            </a:extLst>
          </p:cNvPr>
          <p:cNvSpPr/>
          <p:nvPr/>
        </p:nvSpPr>
        <p:spPr>
          <a:xfrm>
            <a:off x="3000375" y="1357313"/>
            <a:ext cx="5715000" cy="785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57F82878-9A1D-9095-7F77-FDB11F6BC6C9}"/>
              </a:ext>
            </a:extLst>
          </p:cNvPr>
          <p:cNvSpPr/>
          <p:nvPr/>
        </p:nvSpPr>
        <p:spPr>
          <a:xfrm>
            <a:off x="3000375" y="1357313"/>
            <a:ext cx="5715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BB6B4A99-E380-B381-26EE-A201C0111837}"/>
              </a:ext>
            </a:extLst>
          </p:cNvPr>
          <p:cNvSpPr/>
          <p:nvPr/>
        </p:nvSpPr>
        <p:spPr>
          <a:xfrm>
            <a:off x="8708231" y="1357313"/>
            <a:ext cx="7144" cy="78581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4C7CFAB1-6A0E-5059-6934-A9687DB4F7C5}"/>
              </a:ext>
            </a:extLst>
          </p:cNvPr>
          <p:cNvSpPr/>
          <p:nvPr/>
        </p:nvSpPr>
        <p:spPr>
          <a:xfrm>
            <a:off x="3000375" y="2135981"/>
            <a:ext cx="5715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78309480-AAE1-AAFF-9C4E-0C191F3DC8E8}"/>
              </a:ext>
            </a:extLst>
          </p:cNvPr>
          <p:cNvSpPr/>
          <p:nvPr/>
        </p:nvSpPr>
        <p:spPr>
          <a:xfrm>
            <a:off x="3000375" y="1357313"/>
            <a:ext cx="28575" cy="785813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DD95CD94-CE83-1080-9ED7-A0704A1422AA}"/>
              </a:ext>
            </a:extLst>
          </p:cNvPr>
          <p:cNvSpPr/>
          <p:nvPr/>
        </p:nvSpPr>
        <p:spPr>
          <a:xfrm>
            <a:off x="3171825" y="1500188"/>
            <a:ext cx="381515" cy="228139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 err="1">
                <a:solidFill>
                  <a:srgbClr val="2631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Julho</a:t>
            </a:r>
            <a:endParaRPr lang="en-US" sz="1193" dirty="0">
              <a:solidFill>
                <a:srgbClr val="2631FF"/>
              </a:solidFill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AF503BA3-64C9-A3B7-C77E-906E96E7B0DF}"/>
              </a:ext>
            </a:extLst>
          </p:cNvPr>
          <p:cNvSpPr/>
          <p:nvPr/>
        </p:nvSpPr>
        <p:spPr>
          <a:xfrm>
            <a:off x="4100513" y="1500188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Integração com ERP (SAP / TOTVS) via API REST</a:t>
            </a:r>
            <a:endParaRPr lang="en-US" sz="105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6350D99C-D9C7-BCD0-6EBB-17EA6E1FA3AE}"/>
              </a:ext>
            </a:extLst>
          </p:cNvPr>
          <p:cNvSpPr/>
          <p:nvPr/>
        </p:nvSpPr>
        <p:spPr>
          <a:xfrm>
            <a:off x="4100513" y="1753791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Conciliação multi-empresa e multi-moeda</a:t>
            </a:r>
            <a:endParaRPr lang="en-US" sz="105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E5FC5C3A-9FCB-230C-F392-64706355CF6C}"/>
              </a:ext>
            </a:extLst>
          </p:cNvPr>
          <p:cNvSpPr/>
          <p:nvPr/>
        </p:nvSpPr>
        <p:spPr>
          <a:xfrm>
            <a:off x="3000375" y="2286000"/>
            <a:ext cx="5715000" cy="8322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6276AFF2-E0B5-4C20-CA7F-EF4D6CFD12F0}"/>
              </a:ext>
            </a:extLst>
          </p:cNvPr>
          <p:cNvSpPr/>
          <p:nvPr/>
        </p:nvSpPr>
        <p:spPr>
          <a:xfrm>
            <a:off x="3000375" y="2286000"/>
            <a:ext cx="5715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D8A7DE49-7F7B-7BE3-16E3-28A494ED1535}"/>
              </a:ext>
            </a:extLst>
          </p:cNvPr>
          <p:cNvSpPr/>
          <p:nvPr/>
        </p:nvSpPr>
        <p:spPr>
          <a:xfrm>
            <a:off x="8708231" y="2286000"/>
            <a:ext cx="7144" cy="832247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ED845D36-05B4-067B-0E88-5679DE54C700}"/>
              </a:ext>
            </a:extLst>
          </p:cNvPr>
          <p:cNvSpPr/>
          <p:nvPr/>
        </p:nvSpPr>
        <p:spPr>
          <a:xfrm>
            <a:off x="3000375" y="3111103"/>
            <a:ext cx="5715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FA2AC9D9-B02A-F43D-D054-2C7432FC099F}"/>
              </a:ext>
            </a:extLst>
          </p:cNvPr>
          <p:cNvSpPr/>
          <p:nvPr/>
        </p:nvSpPr>
        <p:spPr>
          <a:xfrm>
            <a:off x="3000375" y="2286000"/>
            <a:ext cx="28575" cy="832247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6BD53441-7163-3BA4-3495-7251D9517581}"/>
              </a:ext>
            </a:extLst>
          </p:cNvPr>
          <p:cNvSpPr/>
          <p:nvPr/>
        </p:nvSpPr>
        <p:spPr>
          <a:xfrm>
            <a:off x="3171825" y="2428875"/>
            <a:ext cx="493725" cy="228139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631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Agosto</a:t>
            </a:r>
            <a:endParaRPr lang="en-US" sz="1193" dirty="0">
              <a:solidFill>
                <a:srgbClr val="2631FF"/>
              </a:solidFill>
            </a:endParaRP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0933CF52-7536-0B45-72DC-6EDD8B624A18}"/>
              </a:ext>
            </a:extLst>
          </p:cNvPr>
          <p:cNvSpPr/>
          <p:nvPr/>
        </p:nvSpPr>
        <p:spPr>
          <a:xfrm>
            <a:off x="4100513" y="2428875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Workflow de aprovação de divergências (4 olhos)</a:t>
            </a:r>
            <a:endParaRPr lang="en-US" sz="105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23213C81-2752-56C4-9C71-D59C0D174A54}"/>
              </a:ext>
            </a:extLst>
          </p:cNvPr>
          <p:cNvSpPr/>
          <p:nvPr/>
        </p:nvSpPr>
        <p:spPr>
          <a:xfrm>
            <a:off x="4100513" y="2682478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Notificações automáticas por e-mail e Teams</a:t>
            </a:r>
            <a:endParaRPr lang="en-US" sz="105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18C3CE20-4CB4-0A86-61BD-4FCFDEC30DC1}"/>
              </a:ext>
            </a:extLst>
          </p:cNvPr>
          <p:cNvSpPr/>
          <p:nvPr/>
        </p:nvSpPr>
        <p:spPr>
          <a:xfrm>
            <a:off x="4100513" y="2936081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Módulo de parametrização de regras de negócio</a:t>
            </a:r>
            <a:endParaRPr lang="en-US" sz="1050" dirty="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84715CF9-BA7A-E8E1-7DE6-B3CA7A74C472}"/>
              </a:ext>
            </a:extLst>
          </p:cNvPr>
          <p:cNvSpPr/>
          <p:nvPr/>
        </p:nvSpPr>
        <p:spPr>
          <a:xfrm>
            <a:off x="3000375" y="3246834"/>
            <a:ext cx="5715000" cy="8322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BD097F73-0E6E-8D16-0407-2B30D2E2A12B}"/>
              </a:ext>
            </a:extLst>
          </p:cNvPr>
          <p:cNvSpPr/>
          <p:nvPr/>
        </p:nvSpPr>
        <p:spPr>
          <a:xfrm>
            <a:off x="3000375" y="3246834"/>
            <a:ext cx="5715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EEF1D52E-19A5-A517-9BF5-31F0C6DE3E03}"/>
              </a:ext>
            </a:extLst>
          </p:cNvPr>
          <p:cNvSpPr/>
          <p:nvPr/>
        </p:nvSpPr>
        <p:spPr>
          <a:xfrm>
            <a:off x="8708231" y="3246834"/>
            <a:ext cx="7144" cy="832247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BD732FAD-1744-23CA-C767-8BDAF5D2DF89}"/>
              </a:ext>
            </a:extLst>
          </p:cNvPr>
          <p:cNvSpPr/>
          <p:nvPr/>
        </p:nvSpPr>
        <p:spPr>
          <a:xfrm>
            <a:off x="3000375" y="4071938"/>
            <a:ext cx="5715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28D07AC9-6C44-E41B-B704-61685F4E58B2}"/>
              </a:ext>
            </a:extLst>
          </p:cNvPr>
          <p:cNvSpPr/>
          <p:nvPr/>
        </p:nvSpPr>
        <p:spPr>
          <a:xfrm>
            <a:off x="3000375" y="3246834"/>
            <a:ext cx="28575" cy="832247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400FF83C-B091-663D-4857-AFAFFD05325E}"/>
              </a:ext>
            </a:extLst>
          </p:cNvPr>
          <p:cNvSpPr/>
          <p:nvPr/>
        </p:nvSpPr>
        <p:spPr>
          <a:xfrm>
            <a:off x="3171825" y="3389709"/>
            <a:ext cx="674865" cy="228139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 err="1">
                <a:solidFill>
                  <a:srgbClr val="2631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Setembro</a:t>
            </a:r>
            <a:endParaRPr lang="en-US" sz="1193" dirty="0">
              <a:solidFill>
                <a:srgbClr val="2631FF"/>
              </a:solidFill>
            </a:endParaRPr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BD941245-A425-1EEB-3E4D-46CF4476A0F3}"/>
              </a:ext>
            </a:extLst>
          </p:cNvPr>
          <p:cNvSpPr/>
          <p:nvPr/>
        </p:nvSpPr>
        <p:spPr>
          <a:xfrm>
            <a:off x="4100513" y="3389709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operacional em tempo real</a:t>
            </a:r>
            <a:endParaRPr lang="en-US" sz="1050" dirty="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F15A5542-B997-78B0-BB82-863DCB3B7C07}"/>
              </a:ext>
            </a:extLst>
          </p:cNvPr>
          <p:cNvSpPr/>
          <p:nvPr/>
        </p:nvSpPr>
        <p:spPr>
          <a:xfrm>
            <a:off x="4100513" y="3643313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Testes de carga e performance (SLA &lt; 2s)</a:t>
            </a:r>
            <a:endParaRPr lang="en-US" sz="1050" dirty="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1DF9B06A-11FA-B317-98E5-D784AA400229}"/>
              </a:ext>
            </a:extLst>
          </p:cNvPr>
          <p:cNvSpPr/>
          <p:nvPr/>
        </p:nvSpPr>
        <p:spPr>
          <a:xfrm>
            <a:off x="4100513" y="3896916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UAT R2 e go-live em ambiente produtivo</a:t>
            </a:r>
            <a:endParaRPr lang="en-US" sz="1050" dirty="0"/>
          </a:p>
        </p:txBody>
      </p:sp>
      <p:pic>
        <p:nvPicPr>
          <p:cNvPr id="2" name="Picture 2" descr="O Itaú é feito de futuro">
            <a:extLst>
              <a:ext uri="{FF2B5EF4-FFF2-40B4-BE49-F238E27FC236}">
                <a16:creationId xmlns:a16="http://schemas.microsoft.com/office/drawing/2014/main" id="{318386D2-DDF8-372D-1927-C1EE40A7ED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295" t="6798" r="24961" b="6536"/>
          <a:stretch>
            <a:fillRect/>
          </a:stretch>
        </p:blipFill>
        <p:spPr bwMode="auto">
          <a:xfrm>
            <a:off x="8554103" y="4637421"/>
            <a:ext cx="322544" cy="320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2103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1DAE9-B688-A710-FC8B-716F5B8E1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44C979BF-E47F-122F-1120-01E33903B2C6}"/>
              </a:ext>
            </a:extLst>
          </p:cNvPr>
          <p:cNvSpPr/>
          <p:nvPr/>
        </p:nvSpPr>
        <p:spPr>
          <a:xfrm>
            <a:off x="428625" y="348292"/>
            <a:ext cx="7106112" cy="2747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latin typeface="Roboto" pitchFamily="34" charset="0"/>
                <a:ea typeface="Roboto" pitchFamily="34" charset="-122"/>
                <a:cs typeface="Roboto" pitchFamily="34" charset="-120"/>
              </a:rPr>
              <a:t>Release 4 expande as integrações e automatiza fluxos de aprovação contábil</a:t>
            </a:r>
            <a:endParaRPr lang="en-US" sz="1602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D56AF2D-C2E5-C5C7-1DEA-B3A868F4ADDC}"/>
              </a:ext>
            </a:extLst>
          </p:cNvPr>
          <p:cNvSpPr/>
          <p:nvPr/>
        </p:nvSpPr>
        <p:spPr>
          <a:xfrm>
            <a:off x="428625" y="1428750"/>
            <a:ext cx="1039416" cy="357188"/>
          </a:xfrm>
          <a:prstGeom prst="rect">
            <a:avLst/>
          </a:prstGeom>
          <a:solidFill>
            <a:srgbClr val="2631FF"/>
          </a:solidFill>
          <a:ln/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40575F3-8756-1BBD-702F-80EEEA32CE87}"/>
              </a:ext>
            </a:extLst>
          </p:cNvPr>
          <p:cNvSpPr/>
          <p:nvPr/>
        </p:nvSpPr>
        <p:spPr>
          <a:xfrm>
            <a:off x="428625" y="1428750"/>
            <a:ext cx="1039416" cy="296941"/>
          </a:xfrm>
          <a:prstGeom prst="rect">
            <a:avLst/>
          </a:prstGeom>
          <a:noFill/>
          <a:ln/>
        </p:spPr>
        <p:txBody>
          <a:bodyPr wrap="square" lIns="170053" tIns="102108" rIns="170053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Release 4</a:t>
            </a:r>
            <a:endParaRPr lang="en-US" sz="1193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C58390A-5D0B-8B25-4682-0B61AB5FFFE4}"/>
              </a:ext>
            </a:extLst>
          </p:cNvPr>
          <p:cNvSpPr/>
          <p:nvPr/>
        </p:nvSpPr>
        <p:spPr>
          <a:xfrm>
            <a:off x="428625" y="2071688"/>
            <a:ext cx="417678" cy="132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latin typeface="Roboto" pitchFamily="34" charset="0"/>
                <a:ea typeface="Roboto" pitchFamily="34" charset="-122"/>
                <a:cs typeface="Roboto" pitchFamily="34" charset="-120"/>
              </a:rPr>
              <a:t>PERÍODO</a:t>
            </a:r>
            <a:endParaRPr lang="en-US" sz="784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C964E0A-E54C-AF93-A19A-20CF0F7645C0}"/>
              </a:ext>
            </a:extLst>
          </p:cNvPr>
          <p:cNvSpPr/>
          <p:nvPr/>
        </p:nvSpPr>
        <p:spPr>
          <a:xfrm>
            <a:off x="428625" y="2262783"/>
            <a:ext cx="21431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Abril – Junho 2026</a:t>
            </a:r>
            <a:endParaRPr lang="en-US" sz="1269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1B2BA24-9F9E-6CF9-394C-EB5A0A19EABD}"/>
              </a:ext>
            </a:extLst>
          </p:cNvPr>
          <p:cNvSpPr/>
          <p:nvPr/>
        </p:nvSpPr>
        <p:spPr>
          <a:xfrm>
            <a:off x="428625" y="2677120"/>
            <a:ext cx="793679" cy="132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latin typeface="Roboto" pitchFamily="34" charset="0"/>
                <a:ea typeface="Roboto" pitchFamily="34" charset="-122"/>
                <a:cs typeface="Roboto" pitchFamily="34" charset="-120"/>
              </a:rPr>
              <a:t>FOCO PRINCIPAL</a:t>
            </a:r>
            <a:endParaRPr lang="en-US" sz="784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38C3BDC-402C-E884-6ED2-D3482FC1377E}"/>
              </a:ext>
            </a:extLst>
          </p:cNvPr>
          <p:cNvSpPr/>
          <p:nvPr/>
        </p:nvSpPr>
        <p:spPr>
          <a:xfrm>
            <a:off x="428625" y="2868216"/>
            <a:ext cx="21431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Automação e Integrações</a:t>
            </a:r>
            <a:endParaRPr lang="en-US" sz="1269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55787B3-5850-A17F-9ED0-7BF96EC34858}"/>
              </a:ext>
            </a:extLst>
          </p:cNvPr>
          <p:cNvSpPr/>
          <p:nvPr/>
        </p:nvSpPr>
        <p:spPr>
          <a:xfrm>
            <a:off x="428625" y="3282553"/>
            <a:ext cx="894797" cy="132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latin typeface="Roboto" pitchFamily="34" charset="0"/>
                <a:ea typeface="Roboto" pitchFamily="34" charset="-122"/>
                <a:cs typeface="Roboto" pitchFamily="34" charset="-120"/>
              </a:rPr>
              <a:t>META DE ENTREGA</a:t>
            </a:r>
            <a:endParaRPr lang="en-US" sz="784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026E7F5-A9FC-F9B2-5F81-EAF48F8F6948}"/>
              </a:ext>
            </a:extLst>
          </p:cNvPr>
          <p:cNvSpPr/>
          <p:nvPr/>
        </p:nvSpPr>
        <p:spPr>
          <a:xfrm>
            <a:off x="428625" y="3473648"/>
            <a:ext cx="1404231" cy="1938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3620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de junho de 2026</a:t>
            </a:r>
            <a:endParaRPr lang="en-US" sz="1193" dirty="0">
              <a:solidFill>
                <a:srgbClr val="F36203"/>
              </a:solidFill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CF2225CF-ADE3-6799-269B-B465D6B16B06}"/>
              </a:ext>
            </a:extLst>
          </p:cNvPr>
          <p:cNvSpPr/>
          <p:nvPr/>
        </p:nvSpPr>
        <p:spPr>
          <a:xfrm>
            <a:off x="3000375" y="1357313"/>
            <a:ext cx="5715000" cy="785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3BD42246-C339-B42F-C674-92EAB197A8BB}"/>
              </a:ext>
            </a:extLst>
          </p:cNvPr>
          <p:cNvSpPr/>
          <p:nvPr/>
        </p:nvSpPr>
        <p:spPr>
          <a:xfrm>
            <a:off x="3000375" y="1357313"/>
            <a:ext cx="5715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71E36696-AAB8-B783-2FDB-BDD1B277E618}"/>
              </a:ext>
            </a:extLst>
          </p:cNvPr>
          <p:cNvSpPr/>
          <p:nvPr/>
        </p:nvSpPr>
        <p:spPr>
          <a:xfrm>
            <a:off x="8708231" y="1357313"/>
            <a:ext cx="7144" cy="78581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60622C37-BE9F-D29C-23DC-F34F7BAF07E7}"/>
              </a:ext>
            </a:extLst>
          </p:cNvPr>
          <p:cNvSpPr/>
          <p:nvPr/>
        </p:nvSpPr>
        <p:spPr>
          <a:xfrm>
            <a:off x="3000375" y="2135981"/>
            <a:ext cx="5715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6FC3E0F8-99AC-FB35-5E7A-C28318EB87DF}"/>
              </a:ext>
            </a:extLst>
          </p:cNvPr>
          <p:cNvSpPr/>
          <p:nvPr/>
        </p:nvSpPr>
        <p:spPr>
          <a:xfrm>
            <a:off x="3000375" y="1357313"/>
            <a:ext cx="28575" cy="785813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F0925CDE-1F64-60B1-1A24-151942F1ADE7}"/>
              </a:ext>
            </a:extLst>
          </p:cNvPr>
          <p:cNvSpPr/>
          <p:nvPr/>
        </p:nvSpPr>
        <p:spPr>
          <a:xfrm>
            <a:off x="3171825" y="1500188"/>
            <a:ext cx="556243" cy="228139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 err="1">
                <a:solidFill>
                  <a:srgbClr val="2631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Outubro</a:t>
            </a:r>
            <a:endParaRPr lang="en-US" sz="1193" dirty="0">
              <a:solidFill>
                <a:srgbClr val="2631FF"/>
              </a:solidFill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0D1F2034-FBFC-183A-9CDF-59DBDF671CA5}"/>
              </a:ext>
            </a:extLst>
          </p:cNvPr>
          <p:cNvSpPr/>
          <p:nvPr/>
        </p:nvSpPr>
        <p:spPr>
          <a:xfrm>
            <a:off x="4100513" y="1500188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Integração com ERP (SAP / TOTVS) via API REST</a:t>
            </a:r>
            <a:endParaRPr lang="en-US" sz="105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FFFAED99-87DB-5EF2-DFCE-3F03013A1FF8}"/>
              </a:ext>
            </a:extLst>
          </p:cNvPr>
          <p:cNvSpPr/>
          <p:nvPr/>
        </p:nvSpPr>
        <p:spPr>
          <a:xfrm>
            <a:off x="4100513" y="1753791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Conciliação multi-empresa e multi-moeda</a:t>
            </a:r>
            <a:endParaRPr lang="en-US" sz="105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861997CC-CCBF-131E-B070-6E3A9C3E5EF4}"/>
              </a:ext>
            </a:extLst>
          </p:cNvPr>
          <p:cNvSpPr/>
          <p:nvPr/>
        </p:nvSpPr>
        <p:spPr>
          <a:xfrm>
            <a:off x="3000375" y="2286000"/>
            <a:ext cx="5715000" cy="8322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367C3FFE-443E-D1B3-2B03-A978E570753F}"/>
              </a:ext>
            </a:extLst>
          </p:cNvPr>
          <p:cNvSpPr/>
          <p:nvPr/>
        </p:nvSpPr>
        <p:spPr>
          <a:xfrm>
            <a:off x="3000375" y="2286000"/>
            <a:ext cx="5715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7D76122D-EDFB-B6C8-9F30-F782AAC934C8}"/>
              </a:ext>
            </a:extLst>
          </p:cNvPr>
          <p:cNvSpPr/>
          <p:nvPr/>
        </p:nvSpPr>
        <p:spPr>
          <a:xfrm>
            <a:off x="8708231" y="2286000"/>
            <a:ext cx="7144" cy="832247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0FC7FCF4-CE23-B55F-4E71-85A0E703B6DC}"/>
              </a:ext>
            </a:extLst>
          </p:cNvPr>
          <p:cNvSpPr/>
          <p:nvPr/>
        </p:nvSpPr>
        <p:spPr>
          <a:xfrm>
            <a:off x="3000375" y="3111103"/>
            <a:ext cx="5715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DA4349AF-506C-6165-07E9-C186FAD19DBB}"/>
              </a:ext>
            </a:extLst>
          </p:cNvPr>
          <p:cNvSpPr/>
          <p:nvPr/>
        </p:nvSpPr>
        <p:spPr>
          <a:xfrm>
            <a:off x="3000375" y="2286000"/>
            <a:ext cx="28575" cy="832247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44CC0F1B-2DE0-8BED-DFD6-E11349CBA069}"/>
              </a:ext>
            </a:extLst>
          </p:cNvPr>
          <p:cNvSpPr/>
          <p:nvPr/>
        </p:nvSpPr>
        <p:spPr>
          <a:xfrm>
            <a:off x="3171825" y="2428875"/>
            <a:ext cx="716543" cy="228139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 err="1">
                <a:solidFill>
                  <a:srgbClr val="2631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Novembro</a:t>
            </a:r>
            <a:endParaRPr lang="en-US" sz="1193" dirty="0">
              <a:solidFill>
                <a:srgbClr val="2631FF"/>
              </a:solidFill>
            </a:endParaRP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01D64410-A762-34BB-4E6A-AAC135A19692}"/>
              </a:ext>
            </a:extLst>
          </p:cNvPr>
          <p:cNvSpPr/>
          <p:nvPr/>
        </p:nvSpPr>
        <p:spPr>
          <a:xfrm>
            <a:off x="4100513" y="2428875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Workflow de aprovação de divergências (4 olhos)</a:t>
            </a:r>
            <a:endParaRPr lang="en-US" sz="105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C1F6A1D0-5006-2C1D-9A7B-983B1F034746}"/>
              </a:ext>
            </a:extLst>
          </p:cNvPr>
          <p:cNvSpPr/>
          <p:nvPr/>
        </p:nvSpPr>
        <p:spPr>
          <a:xfrm>
            <a:off x="4100513" y="2682478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Notificações automáticas por e-mail e Teams</a:t>
            </a:r>
            <a:endParaRPr lang="en-US" sz="105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E33FFE52-B05B-8598-5581-0DA35AF02402}"/>
              </a:ext>
            </a:extLst>
          </p:cNvPr>
          <p:cNvSpPr/>
          <p:nvPr/>
        </p:nvSpPr>
        <p:spPr>
          <a:xfrm>
            <a:off x="4100513" y="2936081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Módulo de parametrização de regras de negócio</a:t>
            </a:r>
            <a:endParaRPr lang="en-US" sz="1050" dirty="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2C317452-BE20-B537-41F3-D2B329E0DDFD}"/>
              </a:ext>
            </a:extLst>
          </p:cNvPr>
          <p:cNvSpPr/>
          <p:nvPr/>
        </p:nvSpPr>
        <p:spPr>
          <a:xfrm>
            <a:off x="3000375" y="3246834"/>
            <a:ext cx="5715000" cy="8322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78AD4F5C-6AD7-46C1-EB1F-ED0C2CDD8940}"/>
              </a:ext>
            </a:extLst>
          </p:cNvPr>
          <p:cNvSpPr/>
          <p:nvPr/>
        </p:nvSpPr>
        <p:spPr>
          <a:xfrm>
            <a:off x="3000375" y="3246834"/>
            <a:ext cx="5715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E9484428-740B-58B1-C453-E745EF4EBCD4}"/>
              </a:ext>
            </a:extLst>
          </p:cNvPr>
          <p:cNvSpPr/>
          <p:nvPr/>
        </p:nvSpPr>
        <p:spPr>
          <a:xfrm>
            <a:off x="8708231" y="3246834"/>
            <a:ext cx="7144" cy="832247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FD5F26BC-8AA4-FCCD-3AC0-2917FDC57666}"/>
              </a:ext>
            </a:extLst>
          </p:cNvPr>
          <p:cNvSpPr/>
          <p:nvPr/>
        </p:nvSpPr>
        <p:spPr>
          <a:xfrm>
            <a:off x="3000375" y="4071938"/>
            <a:ext cx="57150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980E6FEA-EAE6-4FB0-5129-1AC7199C5FF3}"/>
              </a:ext>
            </a:extLst>
          </p:cNvPr>
          <p:cNvSpPr/>
          <p:nvPr/>
        </p:nvSpPr>
        <p:spPr>
          <a:xfrm>
            <a:off x="3000375" y="3246834"/>
            <a:ext cx="28575" cy="832247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2692F216-3EA4-3145-4785-C399E9EEC0CA}"/>
              </a:ext>
            </a:extLst>
          </p:cNvPr>
          <p:cNvSpPr/>
          <p:nvPr/>
        </p:nvSpPr>
        <p:spPr>
          <a:xfrm>
            <a:off x="3171825" y="3389709"/>
            <a:ext cx="706925" cy="228139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 err="1">
                <a:solidFill>
                  <a:srgbClr val="2631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Dezembro</a:t>
            </a:r>
            <a:endParaRPr lang="en-US" sz="1193" dirty="0">
              <a:solidFill>
                <a:srgbClr val="2631FF"/>
              </a:solidFill>
            </a:endParaRPr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21CFDCC7-AEEF-BB96-A263-F945F09CA3F8}"/>
              </a:ext>
            </a:extLst>
          </p:cNvPr>
          <p:cNvSpPr/>
          <p:nvPr/>
        </p:nvSpPr>
        <p:spPr>
          <a:xfrm>
            <a:off x="4100513" y="3389709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operacional em tempo real</a:t>
            </a:r>
            <a:endParaRPr lang="en-US" sz="1050" dirty="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61411B4E-209B-1033-8ADB-8C15B8962D0A}"/>
              </a:ext>
            </a:extLst>
          </p:cNvPr>
          <p:cNvSpPr/>
          <p:nvPr/>
        </p:nvSpPr>
        <p:spPr>
          <a:xfrm>
            <a:off x="4100513" y="3643313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Testes de carga e performance (SLA &lt; 2s)</a:t>
            </a:r>
            <a:endParaRPr lang="en-US" sz="1050" dirty="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D81AE28A-692B-CB78-ACE0-4100D0165DE7}"/>
              </a:ext>
            </a:extLst>
          </p:cNvPr>
          <p:cNvSpPr/>
          <p:nvPr/>
        </p:nvSpPr>
        <p:spPr>
          <a:xfrm>
            <a:off x="4100513" y="3896916"/>
            <a:ext cx="444341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UAT R2 e go-live em ambiente produtivo</a:t>
            </a:r>
            <a:endParaRPr lang="en-US" sz="1050" dirty="0"/>
          </a:p>
        </p:txBody>
      </p:sp>
      <p:pic>
        <p:nvPicPr>
          <p:cNvPr id="2" name="Picture 2" descr="O Itaú é feito de futuro">
            <a:extLst>
              <a:ext uri="{FF2B5EF4-FFF2-40B4-BE49-F238E27FC236}">
                <a16:creationId xmlns:a16="http://schemas.microsoft.com/office/drawing/2014/main" id="{1FE32571-4629-9A50-E8C0-268DA3D38F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295" t="6798" r="24961" b="6536"/>
          <a:stretch>
            <a:fillRect/>
          </a:stretch>
        </p:blipFill>
        <p:spPr bwMode="auto">
          <a:xfrm>
            <a:off x="8554103" y="4637421"/>
            <a:ext cx="322544" cy="320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4843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428625" y="345774"/>
            <a:ext cx="8286750" cy="274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latin typeface="Roboto" pitchFamily="34" charset="0"/>
                <a:ea typeface="Roboto" pitchFamily="34" charset="-122"/>
                <a:cs typeface="Roboto" pitchFamily="34" charset="-120"/>
              </a:rPr>
              <a:t>Três dependências críticas exigem atenção para garantir a cadência dos releases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1357313"/>
            <a:ext cx="1947264" cy="1938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2631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MATRIZ DE DEPENDÊNCIAS</a:t>
            </a:r>
            <a:endParaRPr lang="en-US" sz="1193" dirty="0">
              <a:solidFill>
                <a:srgbClr val="2631FF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428597" y="2197893"/>
            <a:ext cx="4557713" cy="45719"/>
          </a:xfrm>
          <a:prstGeom prst="rect">
            <a:avLst/>
          </a:prstGeom>
          <a:solidFill>
            <a:srgbClr val="2631FF"/>
          </a:solidFill>
          <a:ln/>
        </p:spPr>
      </p:sp>
      <p:sp>
        <p:nvSpPr>
          <p:cNvPr id="17" name="Text 14"/>
          <p:cNvSpPr/>
          <p:nvPr/>
        </p:nvSpPr>
        <p:spPr>
          <a:xfrm>
            <a:off x="428625" y="2209205"/>
            <a:ext cx="1823079" cy="59293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Disponibilidade da API do ERP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2394579" y="2352080"/>
            <a:ext cx="292894" cy="175022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19" name="Text 16"/>
          <p:cNvSpPr/>
          <p:nvPr/>
        </p:nvSpPr>
        <p:spPr>
          <a:xfrm>
            <a:off x="2394579" y="2352080"/>
            <a:ext cx="312008" cy="17812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R2</a:t>
            </a:r>
            <a:endParaRPr lang="en-US" sz="683" dirty="0">
              <a:solidFill>
                <a:schemeClr val="bg1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3163230" y="2209205"/>
            <a:ext cx="1823107" cy="59293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Contrato de SLA com fornecedor até Fev/26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428625" y="2802136"/>
            <a:ext cx="1823079" cy="59650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Aprovação do modelo ML pela auditoria</a:t>
            </a:r>
            <a:endParaRPr lang="en-US" sz="942" dirty="0"/>
          </a:p>
        </p:txBody>
      </p:sp>
      <p:sp>
        <p:nvSpPr>
          <p:cNvPr id="22" name="Shape 19"/>
          <p:cNvSpPr/>
          <p:nvPr/>
        </p:nvSpPr>
        <p:spPr>
          <a:xfrm>
            <a:off x="2394579" y="2948583"/>
            <a:ext cx="292894" cy="175022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23" name="Text 20"/>
          <p:cNvSpPr/>
          <p:nvPr/>
        </p:nvSpPr>
        <p:spPr>
          <a:xfrm>
            <a:off x="2394579" y="2948583"/>
            <a:ext cx="312008" cy="17812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R3</a:t>
            </a:r>
            <a:endParaRPr lang="en-US" sz="683" dirty="0">
              <a:solidFill>
                <a:schemeClr val="bg1"/>
              </a:solidFill>
            </a:endParaRPr>
          </a:p>
        </p:txBody>
      </p:sp>
      <p:sp>
        <p:nvSpPr>
          <p:cNvPr id="24" name="Text 21"/>
          <p:cNvSpPr/>
          <p:nvPr/>
        </p:nvSpPr>
        <p:spPr>
          <a:xfrm>
            <a:off x="3163230" y="2802136"/>
            <a:ext cx="1823107" cy="59650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Revisão antecipada em Jun/26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428625" y="3398639"/>
            <a:ext cx="1823079" cy="59293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Pentest e aprovação de segurança</a:t>
            </a:r>
            <a:endParaRPr lang="en-US" sz="942" dirty="0"/>
          </a:p>
        </p:txBody>
      </p:sp>
      <p:sp>
        <p:nvSpPr>
          <p:cNvPr id="26" name="Shape 23"/>
          <p:cNvSpPr/>
          <p:nvPr/>
        </p:nvSpPr>
        <p:spPr>
          <a:xfrm>
            <a:off x="2394579" y="3545086"/>
            <a:ext cx="292894" cy="175022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27" name="Text 24"/>
          <p:cNvSpPr/>
          <p:nvPr/>
        </p:nvSpPr>
        <p:spPr>
          <a:xfrm>
            <a:off x="2394579" y="3545086"/>
            <a:ext cx="312008" cy="17812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R4</a:t>
            </a:r>
            <a:endParaRPr lang="en-US" sz="683" dirty="0">
              <a:solidFill>
                <a:schemeClr val="bg1"/>
              </a:solidFill>
            </a:endParaRPr>
          </a:p>
        </p:txBody>
      </p:sp>
      <p:sp>
        <p:nvSpPr>
          <p:cNvPr id="28" name="Text 25"/>
          <p:cNvSpPr/>
          <p:nvPr/>
        </p:nvSpPr>
        <p:spPr>
          <a:xfrm>
            <a:off x="3163230" y="3398639"/>
            <a:ext cx="1823107" cy="59293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Início do pentest em Out/26</a:t>
            </a:r>
            <a:endParaRPr lang="en-US" sz="942" dirty="0"/>
          </a:p>
        </p:txBody>
      </p:sp>
      <p:sp>
        <p:nvSpPr>
          <p:cNvPr id="29" name="Text 26"/>
          <p:cNvSpPr/>
          <p:nvPr/>
        </p:nvSpPr>
        <p:spPr>
          <a:xfrm>
            <a:off x="5414963" y="1357313"/>
            <a:ext cx="1685718" cy="1938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2631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RISCOS IDENTIFICADOS</a:t>
            </a:r>
            <a:endParaRPr lang="en-US" sz="1193" dirty="0">
              <a:solidFill>
                <a:srgbClr val="2631FF"/>
              </a:solidFill>
            </a:endParaRPr>
          </a:p>
        </p:txBody>
      </p:sp>
      <p:sp>
        <p:nvSpPr>
          <p:cNvPr id="30" name="Shape 27"/>
          <p:cNvSpPr/>
          <p:nvPr/>
        </p:nvSpPr>
        <p:spPr>
          <a:xfrm>
            <a:off x="5414963" y="1771650"/>
            <a:ext cx="3300413" cy="7572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8"/>
          <p:cNvSpPr/>
          <p:nvPr/>
        </p:nvSpPr>
        <p:spPr>
          <a:xfrm>
            <a:off x="5414963" y="1771650"/>
            <a:ext cx="3300413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2" name="Shape 29"/>
          <p:cNvSpPr/>
          <p:nvPr/>
        </p:nvSpPr>
        <p:spPr>
          <a:xfrm>
            <a:off x="8708231" y="1771650"/>
            <a:ext cx="7144" cy="75723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Shape 30"/>
          <p:cNvSpPr/>
          <p:nvPr/>
        </p:nvSpPr>
        <p:spPr>
          <a:xfrm>
            <a:off x="5414963" y="2521744"/>
            <a:ext cx="3300413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4" name="Shape 31"/>
          <p:cNvSpPr/>
          <p:nvPr/>
        </p:nvSpPr>
        <p:spPr>
          <a:xfrm>
            <a:off x="5414963" y="1771650"/>
            <a:ext cx="28575" cy="757238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5" name="Text 32"/>
          <p:cNvSpPr/>
          <p:nvPr/>
        </p:nvSpPr>
        <p:spPr>
          <a:xfrm>
            <a:off x="5586413" y="1943100"/>
            <a:ext cx="29575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Atraso na integração com sistemas legados pode impactar o Release 2 em até 3 semanas.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414963" y="2657475"/>
            <a:ext cx="3300413" cy="9572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4"/>
          <p:cNvSpPr/>
          <p:nvPr/>
        </p:nvSpPr>
        <p:spPr>
          <a:xfrm>
            <a:off x="5414963" y="2657475"/>
            <a:ext cx="3300413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8" name="Shape 35"/>
          <p:cNvSpPr/>
          <p:nvPr/>
        </p:nvSpPr>
        <p:spPr>
          <a:xfrm>
            <a:off x="8708231" y="2657475"/>
            <a:ext cx="7144" cy="95726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9" name="Shape 36"/>
          <p:cNvSpPr/>
          <p:nvPr/>
        </p:nvSpPr>
        <p:spPr>
          <a:xfrm>
            <a:off x="5414963" y="3607594"/>
            <a:ext cx="3300413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0" name="Shape 37"/>
          <p:cNvSpPr/>
          <p:nvPr/>
        </p:nvSpPr>
        <p:spPr>
          <a:xfrm>
            <a:off x="5414963" y="2657475"/>
            <a:ext cx="28575" cy="957263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41" name="Text 38"/>
          <p:cNvSpPr/>
          <p:nvPr/>
        </p:nvSpPr>
        <p:spPr>
          <a:xfrm>
            <a:off x="5586413" y="2828925"/>
            <a:ext cx="295751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Disponibilidade e qualidade de dados históricos para treino do modelo de Machine Learning (Release 3).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5414963" y="3743325"/>
            <a:ext cx="3300413" cy="9572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0"/>
          <p:cNvSpPr/>
          <p:nvPr/>
        </p:nvSpPr>
        <p:spPr>
          <a:xfrm>
            <a:off x="5414963" y="3743325"/>
            <a:ext cx="3300413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4" name="Shape 41"/>
          <p:cNvSpPr/>
          <p:nvPr/>
        </p:nvSpPr>
        <p:spPr>
          <a:xfrm>
            <a:off x="8708231" y="3743325"/>
            <a:ext cx="7144" cy="95726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5" name="Shape 42"/>
          <p:cNvSpPr/>
          <p:nvPr/>
        </p:nvSpPr>
        <p:spPr>
          <a:xfrm>
            <a:off x="5414963" y="4693444"/>
            <a:ext cx="3300413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6" name="Shape 43"/>
          <p:cNvSpPr/>
          <p:nvPr/>
        </p:nvSpPr>
        <p:spPr>
          <a:xfrm>
            <a:off x="5414963" y="3743325"/>
            <a:ext cx="28575" cy="957263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47" name="Text 44"/>
          <p:cNvSpPr/>
          <p:nvPr/>
        </p:nvSpPr>
        <p:spPr>
          <a:xfrm>
            <a:off x="5586413" y="3914775"/>
            <a:ext cx="295751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Possíveis mudanças regulatórias do BACEN durante o ano de 2026 que exijam adaptações não previstas.</a:t>
            </a:r>
            <a:endParaRPr lang="en-US" sz="1050" dirty="0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CEEDEFF0-D450-1478-A884-1D156E036CA4}"/>
              </a:ext>
            </a:extLst>
          </p:cNvPr>
          <p:cNvSpPr txBox="1"/>
          <p:nvPr/>
        </p:nvSpPr>
        <p:spPr>
          <a:xfrm>
            <a:off x="600074" y="1882348"/>
            <a:ext cx="1414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"/>
              </a:rPr>
              <a:t>Dependência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36AC0040-AF72-396C-013A-2B496007883D}"/>
              </a:ext>
            </a:extLst>
          </p:cNvPr>
          <p:cNvSpPr txBox="1"/>
          <p:nvPr/>
        </p:nvSpPr>
        <p:spPr>
          <a:xfrm>
            <a:off x="2300436" y="1882348"/>
            <a:ext cx="756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"/>
              </a:rPr>
              <a:t>Impacto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5D177A8D-0839-7239-6EB4-60751592296B}"/>
              </a:ext>
            </a:extLst>
          </p:cNvPr>
          <p:cNvSpPr txBox="1"/>
          <p:nvPr/>
        </p:nvSpPr>
        <p:spPr>
          <a:xfrm>
            <a:off x="3268539" y="1882348"/>
            <a:ext cx="10285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"/>
              </a:rPr>
              <a:t>Mitigação</a:t>
            </a:r>
          </a:p>
        </p:txBody>
      </p:sp>
      <p:pic>
        <p:nvPicPr>
          <p:cNvPr id="52" name="Picture 2" descr="O Itaú é feito de futuro">
            <a:extLst>
              <a:ext uri="{FF2B5EF4-FFF2-40B4-BE49-F238E27FC236}">
                <a16:creationId xmlns:a16="http://schemas.microsoft.com/office/drawing/2014/main" id="{A0312B4F-51AC-FDC2-E70B-BEDE27AB78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295" t="6798" r="24961" b="6536"/>
          <a:stretch>
            <a:fillRect/>
          </a:stretch>
        </p:blipFill>
        <p:spPr bwMode="auto">
          <a:xfrm>
            <a:off x="8554103" y="4637421"/>
            <a:ext cx="322544" cy="320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428625" y="361454"/>
            <a:ext cx="6626814" cy="274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latin typeface="Roboto" pitchFamily="34" charset="0"/>
                <a:ea typeface="Roboto" pitchFamily="34" charset="-122"/>
                <a:cs typeface="Roboto" pitchFamily="34" charset="-120"/>
              </a:rPr>
              <a:t>KPIs mensuráveis validam o valor entregue em cada release ao negócio</a:t>
            </a:r>
            <a:endParaRPr lang="en-US" sz="1602" dirty="0"/>
          </a:p>
        </p:txBody>
      </p:sp>
      <p:sp>
        <p:nvSpPr>
          <p:cNvPr id="7" name="Shape 4"/>
          <p:cNvSpPr/>
          <p:nvPr/>
        </p:nvSpPr>
        <p:spPr>
          <a:xfrm>
            <a:off x="571500" y="1428750"/>
            <a:ext cx="3200400" cy="473273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8" name="Shape 5"/>
          <p:cNvSpPr/>
          <p:nvPr/>
        </p:nvSpPr>
        <p:spPr>
          <a:xfrm>
            <a:off x="3764756" y="1428750"/>
            <a:ext cx="7144" cy="47327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1894880"/>
            <a:ext cx="32004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1428750"/>
            <a:ext cx="3200400" cy="473273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Indicador de Performance (KPI)</a:t>
            </a:r>
            <a:endParaRPr lang="en-US" sz="1090" dirty="0"/>
          </a:p>
        </p:txBody>
      </p:sp>
      <p:sp>
        <p:nvSpPr>
          <p:cNvPr id="11" name="Shape 8"/>
          <p:cNvSpPr/>
          <p:nvPr/>
        </p:nvSpPr>
        <p:spPr>
          <a:xfrm>
            <a:off x="3771900" y="1428750"/>
            <a:ext cx="1198057" cy="473273"/>
          </a:xfrm>
          <a:prstGeom prst="rect">
            <a:avLst/>
          </a:prstGeom>
          <a:solidFill>
            <a:srgbClr val="2631FF"/>
          </a:solidFill>
          <a:ln/>
        </p:spPr>
      </p:sp>
      <p:sp>
        <p:nvSpPr>
          <p:cNvPr id="12" name="Shape 9"/>
          <p:cNvSpPr/>
          <p:nvPr/>
        </p:nvSpPr>
        <p:spPr>
          <a:xfrm>
            <a:off x="4962813" y="1428750"/>
            <a:ext cx="7144" cy="47327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Shape 10"/>
          <p:cNvSpPr/>
          <p:nvPr/>
        </p:nvSpPr>
        <p:spPr>
          <a:xfrm>
            <a:off x="3771900" y="1894880"/>
            <a:ext cx="1198057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4" name="Text 11"/>
          <p:cNvSpPr/>
          <p:nvPr/>
        </p:nvSpPr>
        <p:spPr>
          <a:xfrm>
            <a:off x="3771900" y="1428750"/>
            <a:ext cx="1198057" cy="473273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Release 1</a:t>
            </a:r>
            <a:endParaRPr lang="en-US" sz="1090" dirty="0"/>
          </a:p>
        </p:txBody>
      </p:sp>
      <p:sp>
        <p:nvSpPr>
          <p:cNvPr id="15" name="Shape 12"/>
          <p:cNvSpPr/>
          <p:nvPr/>
        </p:nvSpPr>
        <p:spPr>
          <a:xfrm>
            <a:off x="4967892" y="1428750"/>
            <a:ext cx="1200150" cy="473273"/>
          </a:xfrm>
          <a:prstGeom prst="rect">
            <a:avLst/>
          </a:prstGeom>
          <a:solidFill>
            <a:srgbClr val="2631FF"/>
          </a:solidFill>
          <a:ln/>
        </p:spPr>
      </p:sp>
      <p:sp>
        <p:nvSpPr>
          <p:cNvPr id="16" name="Shape 13"/>
          <p:cNvSpPr/>
          <p:nvPr/>
        </p:nvSpPr>
        <p:spPr>
          <a:xfrm>
            <a:off x="6160898" y="1428750"/>
            <a:ext cx="7144" cy="47327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Shape 14"/>
          <p:cNvSpPr/>
          <p:nvPr/>
        </p:nvSpPr>
        <p:spPr>
          <a:xfrm>
            <a:off x="4967892" y="1894880"/>
            <a:ext cx="12001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Text 15"/>
          <p:cNvSpPr/>
          <p:nvPr/>
        </p:nvSpPr>
        <p:spPr>
          <a:xfrm>
            <a:off x="4967892" y="1428750"/>
            <a:ext cx="1200150" cy="473273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Release 2</a:t>
            </a:r>
            <a:endParaRPr lang="en-US" sz="1090" dirty="0"/>
          </a:p>
        </p:txBody>
      </p:sp>
      <p:sp>
        <p:nvSpPr>
          <p:cNvPr id="19" name="Shape 16"/>
          <p:cNvSpPr/>
          <p:nvPr/>
        </p:nvSpPr>
        <p:spPr>
          <a:xfrm>
            <a:off x="6168014" y="1428750"/>
            <a:ext cx="1202215" cy="473273"/>
          </a:xfrm>
          <a:prstGeom prst="rect">
            <a:avLst/>
          </a:prstGeom>
          <a:solidFill>
            <a:srgbClr val="2631FF"/>
          </a:solidFill>
          <a:ln/>
        </p:spPr>
      </p:sp>
      <p:sp>
        <p:nvSpPr>
          <p:cNvPr id="20" name="Shape 17"/>
          <p:cNvSpPr/>
          <p:nvPr/>
        </p:nvSpPr>
        <p:spPr>
          <a:xfrm>
            <a:off x="7363085" y="1428750"/>
            <a:ext cx="7144" cy="47327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Shape 18"/>
          <p:cNvSpPr/>
          <p:nvPr/>
        </p:nvSpPr>
        <p:spPr>
          <a:xfrm>
            <a:off x="6168014" y="1894880"/>
            <a:ext cx="1202215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2" name="Text 19"/>
          <p:cNvSpPr/>
          <p:nvPr/>
        </p:nvSpPr>
        <p:spPr>
          <a:xfrm>
            <a:off x="6168014" y="1403328"/>
            <a:ext cx="1202215" cy="524118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Release 3</a:t>
            </a:r>
            <a:endParaRPr lang="en-US" sz="1090" dirty="0">
              <a:solidFill>
                <a:schemeClr val="bg1"/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372350" y="1428750"/>
            <a:ext cx="1200150" cy="473273"/>
          </a:xfrm>
          <a:prstGeom prst="rect">
            <a:avLst/>
          </a:prstGeom>
          <a:solidFill>
            <a:srgbClr val="2631FF"/>
          </a:solidFill>
          <a:ln/>
        </p:spPr>
      </p:sp>
      <p:sp>
        <p:nvSpPr>
          <p:cNvPr id="24" name="Shape 21"/>
          <p:cNvSpPr/>
          <p:nvPr/>
        </p:nvSpPr>
        <p:spPr>
          <a:xfrm>
            <a:off x="7372350" y="1894880"/>
            <a:ext cx="12001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Text 22"/>
          <p:cNvSpPr/>
          <p:nvPr/>
        </p:nvSpPr>
        <p:spPr>
          <a:xfrm>
            <a:off x="7372350" y="1428750"/>
            <a:ext cx="1200150" cy="473273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Release 4</a:t>
            </a:r>
            <a:endParaRPr lang="en-US" sz="1090" dirty="0"/>
          </a:p>
        </p:txBody>
      </p:sp>
      <p:sp>
        <p:nvSpPr>
          <p:cNvPr id="26" name="Text 23"/>
          <p:cNvSpPr/>
          <p:nvPr/>
        </p:nvSpPr>
        <p:spPr>
          <a:xfrm>
            <a:off x="571500" y="1881067"/>
            <a:ext cx="3200400" cy="524118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Taxa de conciliação automática</a:t>
            </a:r>
            <a:endParaRPr lang="en-US" sz="1090" dirty="0">
              <a:solidFill>
                <a:srgbClr val="4A4A4A"/>
              </a:solidFill>
            </a:endParaRPr>
          </a:p>
        </p:txBody>
      </p:sp>
      <p:sp>
        <p:nvSpPr>
          <p:cNvPr id="27" name="Text 24"/>
          <p:cNvSpPr/>
          <p:nvPr/>
        </p:nvSpPr>
        <p:spPr>
          <a:xfrm>
            <a:off x="3771900" y="1898452"/>
            <a:ext cx="1200150" cy="489347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40%</a:t>
            </a:r>
            <a:endParaRPr lang="en-US" sz="1269" dirty="0"/>
          </a:p>
        </p:txBody>
      </p:sp>
      <p:sp>
        <p:nvSpPr>
          <p:cNvPr id="28" name="Text 25"/>
          <p:cNvSpPr/>
          <p:nvPr/>
        </p:nvSpPr>
        <p:spPr>
          <a:xfrm>
            <a:off x="4972050" y="1898452"/>
            <a:ext cx="1200150" cy="489347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70%</a:t>
            </a:r>
            <a:endParaRPr lang="en-US" sz="1269" dirty="0"/>
          </a:p>
        </p:txBody>
      </p:sp>
      <p:sp>
        <p:nvSpPr>
          <p:cNvPr id="29" name="Text 26"/>
          <p:cNvSpPr/>
          <p:nvPr/>
        </p:nvSpPr>
        <p:spPr>
          <a:xfrm>
            <a:off x="6172200" y="1898452"/>
            <a:ext cx="1200150" cy="489347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85%</a:t>
            </a:r>
            <a:endParaRPr lang="en-US" sz="1269" dirty="0"/>
          </a:p>
        </p:txBody>
      </p:sp>
      <p:sp>
        <p:nvSpPr>
          <p:cNvPr id="30" name="Text 27"/>
          <p:cNvSpPr/>
          <p:nvPr/>
        </p:nvSpPr>
        <p:spPr>
          <a:xfrm>
            <a:off x="7372350" y="1898452"/>
            <a:ext cx="1200150" cy="489347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95%</a:t>
            </a:r>
            <a:endParaRPr lang="en-US" sz="1269" dirty="0"/>
          </a:p>
        </p:txBody>
      </p:sp>
      <p:sp>
        <p:nvSpPr>
          <p:cNvPr id="31" name="Shape 28"/>
          <p:cNvSpPr/>
          <p:nvPr/>
        </p:nvSpPr>
        <p:spPr>
          <a:xfrm>
            <a:off x="571500" y="2387798"/>
            <a:ext cx="8001000" cy="49291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2" name="Text 29"/>
          <p:cNvSpPr/>
          <p:nvPr/>
        </p:nvSpPr>
        <p:spPr>
          <a:xfrm>
            <a:off x="571500" y="2372199"/>
            <a:ext cx="3200400" cy="524118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Tempo médio de fechamento</a:t>
            </a:r>
            <a:endParaRPr lang="en-US" sz="1090" dirty="0">
              <a:solidFill>
                <a:srgbClr val="4A4A4A"/>
              </a:solidFill>
            </a:endParaRPr>
          </a:p>
        </p:txBody>
      </p:sp>
      <p:sp>
        <p:nvSpPr>
          <p:cNvPr id="33" name="Text 30"/>
          <p:cNvSpPr/>
          <p:nvPr/>
        </p:nvSpPr>
        <p:spPr>
          <a:xfrm>
            <a:off x="3771900" y="2387798"/>
            <a:ext cx="1200150" cy="492919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–20%</a:t>
            </a:r>
            <a:endParaRPr lang="en-US" sz="1269" dirty="0"/>
          </a:p>
        </p:txBody>
      </p:sp>
      <p:sp>
        <p:nvSpPr>
          <p:cNvPr id="34" name="Text 31"/>
          <p:cNvSpPr/>
          <p:nvPr/>
        </p:nvSpPr>
        <p:spPr>
          <a:xfrm>
            <a:off x="4972050" y="2387798"/>
            <a:ext cx="1200150" cy="492919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–40%</a:t>
            </a:r>
            <a:endParaRPr lang="en-US" sz="1269" dirty="0"/>
          </a:p>
        </p:txBody>
      </p:sp>
      <p:sp>
        <p:nvSpPr>
          <p:cNvPr id="35" name="Text 32"/>
          <p:cNvSpPr/>
          <p:nvPr/>
        </p:nvSpPr>
        <p:spPr>
          <a:xfrm>
            <a:off x="6172200" y="2387798"/>
            <a:ext cx="1200150" cy="492919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–55%</a:t>
            </a:r>
            <a:endParaRPr lang="en-US" sz="1269" dirty="0"/>
          </a:p>
        </p:txBody>
      </p:sp>
      <p:sp>
        <p:nvSpPr>
          <p:cNvPr id="36" name="Text 33"/>
          <p:cNvSpPr/>
          <p:nvPr/>
        </p:nvSpPr>
        <p:spPr>
          <a:xfrm>
            <a:off x="7372350" y="2387798"/>
            <a:ext cx="1200150" cy="492919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–60%</a:t>
            </a:r>
            <a:endParaRPr lang="en-US" sz="1269" dirty="0"/>
          </a:p>
        </p:txBody>
      </p:sp>
      <p:sp>
        <p:nvSpPr>
          <p:cNvPr id="37" name="Text 34"/>
          <p:cNvSpPr/>
          <p:nvPr/>
        </p:nvSpPr>
        <p:spPr>
          <a:xfrm>
            <a:off x="571500" y="2865118"/>
            <a:ext cx="3200400" cy="524118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Divergências não resolvidas</a:t>
            </a:r>
            <a:endParaRPr lang="en-US" sz="1090" dirty="0">
              <a:solidFill>
                <a:srgbClr val="4A4A4A"/>
              </a:solidFill>
            </a:endParaRPr>
          </a:p>
        </p:txBody>
      </p:sp>
      <p:sp>
        <p:nvSpPr>
          <p:cNvPr id="38" name="Text 35"/>
          <p:cNvSpPr/>
          <p:nvPr/>
        </p:nvSpPr>
        <p:spPr>
          <a:xfrm>
            <a:off x="3771900" y="2880717"/>
            <a:ext cx="1200150" cy="492919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 500</a:t>
            </a:r>
            <a:endParaRPr lang="en-US" sz="1269" dirty="0"/>
          </a:p>
        </p:txBody>
      </p:sp>
      <p:sp>
        <p:nvSpPr>
          <p:cNvPr id="39" name="Text 36"/>
          <p:cNvSpPr/>
          <p:nvPr/>
        </p:nvSpPr>
        <p:spPr>
          <a:xfrm>
            <a:off x="4972050" y="2880717"/>
            <a:ext cx="1200150" cy="492919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 200</a:t>
            </a:r>
            <a:endParaRPr lang="en-US" sz="1269" dirty="0"/>
          </a:p>
        </p:txBody>
      </p:sp>
      <p:sp>
        <p:nvSpPr>
          <p:cNvPr id="40" name="Text 37"/>
          <p:cNvSpPr/>
          <p:nvPr/>
        </p:nvSpPr>
        <p:spPr>
          <a:xfrm>
            <a:off x="6172200" y="2880717"/>
            <a:ext cx="1200150" cy="492919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 50</a:t>
            </a:r>
            <a:endParaRPr lang="en-US" sz="1269" dirty="0"/>
          </a:p>
        </p:txBody>
      </p:sp>
      <p:sp>
        <p:nvSpPr>
          <p:cNvPr id="41" name="Text 38"/>
          <p:cNvSpPr/>
          <p:nvPr/>
        </p:nvSpPr>
        <p:spPr>
          <a:xfrm>
            <a:off x="7372350" y="2880717"/>
            <a:ext cx="1200150" cy="492919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 10</a:t>
            </a:r>
            <a:endParaRPr lang="en-US" sz="1269" dirty="0"/>
          </a:p>
        </p:txBody>
      </p:sp>
      <p:sp>
        <p:nvSpPr>
          <p:cNvPr id="42" name="Shape 39"/>
          <p:cNvSpPr/>
          <p:nvPr/>
        </p:nvSpPr>
        <p:spPr>
          <a:xfrm>
            <a:off x="571500" y="3373636"/>
            <a:ext cx="8001000" cy="49291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3" name="Text 40"/>
          <p:cNvSpPr/>
          <p:nvPr/>
        </p:nvSpPr>
        <p:spPr>
          <a:xfrm>
            <a:off x="571500" y="3358037"/>
            <a:ext cx="3200400" cy="524118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Satisfação dos usuários (NPS)</a:t>
            </a:r>
            <a:endParaRPr lang="en-US" sz="1090" dirty="0">
              <a:solidFill>
                <a:srgbClr val="4A4A4A"/>
              </a:solidFill>
            </a:endParaRPr>
          </a:p>
        </p:txBody>
      </p:sp>
      <p:sp>
        <p:nvSpPr>
          <p:cNvPr id="44" name="Text 41"/>
          <p:cNvSpPr/>
          <p:nvPr/>
        </p:nvSpPr>
        <p:spPr>
          <a:xfrm>
            <a:off x="3771900" y="3373636"/>
            <a:ext cx="1200150" cy="492919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</a:t>
            </a:r>
            <a:endParaRPr lang="en-US" sz="1269" dirty="0"/>
          </a:p>
        </p:txBody>
      </p:sp>
      <p:sp>
        <p:nvSpPr>
          <p:cNvPr id="45" name="Text 42"/>
          <p:cNvSpPr/>
          <p:nvPr/>
        </p:nvSpPr>
        <p:spPr>
          <a:xfrm>
            <a:off x="4972050" y="3373636"/>
            <a:ext cx="1200150" cy="492919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45</a:t>
            </a:r>
            <a:endParaRPr lang="en-US" sz="1269" dirty="0"/>
          </a:p>
        </p:txBody>
      </p:sp>
      <p:sp>
        <p:nvSpPr>
          <p:cNvPr id="46" name="Text 43"/>
          <p:cNvSpPr/>
          <p:nvPr/>
        </p:nvSpPr>
        <p:spPr>
          <a:xfrm>
            <a:off x="6172200" y="3373636"/>
            <a:ext cx="1200150" cy="492919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60</a:t>
            </a:r>
            <a:endParaRPr lang="en-US" sz="1269" dirty="0"/>
          </a:p>
        </p:txBody>
      </p:sp>
      <p:sp>
        <p:nvSpPr>
          <p:cNvPr id="47" name="Text 44"/>
          <p:cNvSpPr/>
          <p:nvPr/>
        </p:nvSpPr>
        <p:spPr>
          <a:xfrm>
            <a:off x="7372350" y="3373636"/>
            <a:ext cx="1200150" cy="492919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75</a:t>
            </a:r>
            <a:endParaRPr lang="en-US" sz="1269" dirty="0"/>
          </a:p>
        </p:txBody>
      </p:sp>
      <p:sp>
        <p:nvSpPr>
          <p:cNvPr id="48" name="Text 45"/>
          <p:cNvSpPr/>
          <p:nvPr/>
        </p:nvSpPr>
        <p:spPr>
          <a:xfrm>
            <a:off x="571500" y="3849170"/>
            <a:ext cx="3200400" cy="524118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Cobertura de contas conciliadas</a:t>
            </a:r>
            <a:endParaRPr lang="en-US" sz="1090" dirty="0">
              <a:solidFill>
                <a:srgbClr val="4A4A4A"/>
              </a:solidFill>
            </a:endParaRPr>
          </a:p>
        </p:txBody>
      </p:sp>
      <p:sp>
        <p:nvSpPr>
          <p:cNvPr id="49" name="Text 46"/>
          <p:cNvSpPr/>
          <p:nvPr/>
        </p:nvSpPr>
        <p:spPr>
          <a:xfrm>
            <a:off x="3771900" y="3866555"/>
            <a:ext cx="1200150" cy="489347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60%</a:t>
            </a:r>
            <a:endParaRPr lang="en-US" sz="1269" dirty="0"/>
          </a:p>
        </p:txBody>
      </p:sp>
      <p:sp>
        <p:nvSpPr>
          <p:cNvPr id="50" name="Text 47"/>
          <p:cNvSpPr/>
          <p:nvPr/>
        </p:nvSpPr>
        <p:spPr>
          <a:xfrm>
            <a:off x="4972050" y="3866555"/>
            <a:ext cx="1200150" cy="489347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80%</a:t>
            </a:r>
            <a:endParaRPr lang="en-US" sz="1269" dirty="0"/>
          </a:p>
        </p:txBody>
      </p:sp>
      <p:sp>
        <p:nvSpPr>
          <p:cNvPr id="51" name="Text 48"/>
          <p:cNvSpPr/>
          <p:nvPr/>
        </p:nvSpPr>
        <p:spPr>
          <a:xfrm>
            <a:off x="6172200" y="3866555"/>
            <a:ext cx="1200150" cy="489347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90%</a:t>
            </a:r>
            <a:endParaRPr lang="en-US" sz="1269" dirty="0"/>
          </a:p>
        </p:txBody>
      </p:sp>
      <p:sp>
        <p:nvSpPr>
          <p:cNvPr id="52" name="Text 49"/>
          <p:cNvSpPr/>
          <p:nvPr/>
        </p:nvSpPr>
        <p:spPr>
          <a:xfrm>
            <a:off x="7372350" y="3866555"/>
            <a:ext cx="1200150" cy="489347"/>
          </a:xfrm>
          <a:prstGeom prst="rect">
            <a:avLst/>
          </a:prstGeom>
          <a:noFill/>
          <a:ln/>
        </p:spPr>
        <p:txBody>
          <a:bodyPr wrap="square" lIns="204089" tIns="170053" rIns="204089" bIns="170053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100%</a:t>
            </a:r>
            <a:endParaRPr lang="en-US" sz="1269" dirty="0"/>
          </a:p>
        </p:txBody>
      </p:sp>
      <p:pic>
        <p:nvPicPr>
          <p:cNvPr id="53" name="Picture 2" descr="O Itaú é feito de futuro">
            <a:extLst>
              <a:ext uri="{FF2B5EF4-FFF2-40B4-BE49-F238E27FC236}">
                <a16:creationId xmlns:a16="http://schemas.microsoft.com/office/drawing/2014/main" id="{571BCF0D-89DD-164B-4143-EC390D0B84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295" t="6798" r="24961" b="6536"/>
          <a:stretch>
            <a:fillRect/>
          </a:stretch>
        </p:blipFill>
        <p:spPr bwMode="auto">
          <a:xfrm>
            <a:off x="8554103" y="4637421"/>
            <a:ext cx="322544" cy="320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hape 3"/>
          <p:cNvSpPr/>
          <p:nvPr/>
        </p:nvSpPr>
        <p:spPr>
          <a:xfrm>
            <a:off x="571500" y="1428750"/>
            <a:ext cx="8001000" cy="2948583"/>
          </a:xfrm>
          <a:prstGeom prst="rect">
            <a:avLst/>
          </a:prstGeom>
          <a:noFill/>
          <a:ln w="9144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428625" y="345774"/>
            <a:ext cx="8286750" cy="569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latin typeface="Roboto" pitchFamily="34" charset="0"/>
                <a:ea typeface="Roboto" pitchFamily="34" charset="-122"/>
                <a:cs typeface="Roboto" pitchFamily="34" charset="-120"/>
              </a:rPr>
              <a:t>Governança ágil e cerimônias regulares garantem a entrega dentro do prazo e do orçamento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28625" y="1357313"/>
            <a:ext cx="4000500" cy="25931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357313"/>
            <a:ext cx="4000500" cy="28575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8" name="Shape 5"/>
          <p:cNvSpPr/>
          <p:nvPr/>
        </p:nvSpPr>
        <p:spPr>
          <a:xfrm>
            <a:off x="4421981" y="1357313"/>
            <a:ext cx="7144" cy="259318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Shape 6"/>
          <p:cNvSpPr/>
          <p:nvPr/>
        </p:nvSpPr>
        <p:spPr>
          <a:xfrm>
            <a:off x="428625" y="3943350"/>
            <a:ext cx="400050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Shape 7"/>
          <p:cNvSpPr/>
          <p:nvPr/>
        </p:nvSpPr>
        <p:spPr>
          <a:xfrm>
            <a:off x="428625" y="1357313"/>
            <a:ext cx="7144" cy="259318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Text 8"/>
          <p:cNvSpPr/>
          <p:nvPr/>
        </p:nvSpPr>
        <p:spPr>
          <a:xfrm>
            <a:off x="642938" y="1571625"/>
            <a:ext cx="2149371" cy="1937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2631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ESTRUTURA DE GOVERNANÇA</a:t>
            </a:r>
            <a:endParaRPr lang="en-US" sz="1193" dirty="0">
              <a:solidFill>
                <a:srgbClr val="2631FF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826889" y="1943100"/>
            <a:ext cx="90446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Sprint Reviews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731355" y="1943100"/>
            <a:ext cx="247631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bimensais com stakeholders de negócio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26889" y="2486025"/>
            <a:ext cx="1164682" cy="394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Steering Committee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991571" y="2486025"/>
            <a:ext cx="221609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trimestral com diretoria financeira e TI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26889" y="3028950"/>
            <a:ext cx="10715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Release Planning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898452" y="3028950"/>
            <a:ext cx="18502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dias antes de cada release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26889" y="3371850"/>
            <a:ext cx="93047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Retrospectivas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757363" y="3371850"/>
            <a:ext cx="245030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ao final de cada release para melhoria contínua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07731" y="1357313"/>
            <a:ext cx="4007644" cy="25574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4707731" y="1357313"/>
            <a:ext cx="4007644" cy="28575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22" name="Shape 19"/>
          <p:cNvSpPr/>
          <p:nvPr/>
        </p:nvSpPr>
        <p:spPr>
          <a:xfrm>
            <a:off x="8708231" y="1357313"/>
            <a:ext cx="7144" cy="255746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3" name="Shape 20"/>
          <p:cNvSpPr/>
          <p:nvPr/>
        </p:nvSpPr>
        <p:spPr>
          <a:xfrm>
            <a:off x="4707731" y="3907631"/>
            <a:ext cx="4007644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4" name="Shape 21"/>
          <p:cNvSpPr/>
          <p:nvPr/>
        </p:nvSpPr>
        <p:spPr>
          <a:xfrm>
            <a:off x="4707731" y="1357313"/>
            <a:ext cx="7144" cy="255746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Text 22"/>
          <p:cNvSpPr/>
          <p:nvPr/>
        </p:nvSpPr>
        <p:spPr>
          <a:xfrm>
            <a:off x="4929188" y="1571625"/>
            <a:ext cx="2260234" cy="1937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2631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PRÓXIMOS PASSOS IMEDIATOS</a:t>
            </a:r>
            <a:endParaRPr lang="en-US" sz="1193" dirty="0">
              <a:solidFill>
                <a:srgbClr val="2631FF"/>
              </a:solidFill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929188" y="1943100"/>
            <a:ext cx="200025" cy="200025"/>
          </a:xfrm>
          <a:prstGeom prst="ellipse">
            <a:avLst/>
          </a:prstGeom>
          <a:solidFill>
            <a:srgbClr val="F36203"/>
          </a:solidFill>
          <a:ln/>
        </p:spPr>
        <p:txBody>
          <a:bodyPr anchor="ctr"/>
          <a:lstStyle/>
          <a:p>
            <a:pPr algn="ctr"/>
            <a:r>
              <a:rPr lang="pt-BR" sz="105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8" name="Text 25"/>
          <p:cNvSpPr/>
          <p:nvPr/>
        </p:nvSpPr>
        <p:spPr>
          <a:xfrm>
            <a:off x="5214938" y="1943100"/>
            <a:ext cx="151626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Kickoff oficial do projeto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788348" y="1943100"/>
            <a:ext cx="98226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2B7BB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 05/Jan/2026</a:t>
            </a:r>
            <a:endParaRPr lang="en-US" sz="987" dirty="0"/>
          </a:p>
        </p:txBody>
      </p:sp>
      <p:sp>
        <p:nvSpPr>
          <p:cNvPr id="32" name="Text 29"/>
          <p:cNvSpPr/>
          <p:nvPr/>
        </p:nvSpPr>
        <p:spPr>
          <a:xfrm>
            <a:off x="5214938" y="2286000"/>
            <a:ext cx="18573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Onboarding da equipe técnica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7129463" y="2286000"/>
            <a:ext cx="123765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2B7BB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 06–09/Jan/2026</a:t>
            </a:r>
            <a:endParaRPr lang="en-US" sz="987" dirty="0"/>
          </a:p>
        </p:txBody>
      </p:sp>
      <p:sp>
        <p:nvSpPr>
          <p:cNvPr id="36" name="Text 33"/>
          <p:cNvSpPr/>
          <p:nvPr/>
        </p:nvSpPr>
        <p:spPr>
          <a:xfrm>
            <a:off x="5214938" y="2628900"/>
            <a:ext cx="178236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Início do Sprint 1 (Release 1)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7054453" y="2628900"/>
            <a:ext cx="98226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2B7BB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 12/Jan/2026</a:t>
            </a:r>
            <a:endParaRPr lang="en-US" sz="987" dirty="0"/>
          </a:p>
        </p:txBody>
      </p:sp>
      <p:sp>
        <p:nvSpPr>
          <p:cNvPr id="40" name="Text 37"/>
          <p:cNvSpPr/>
          <p:nvPr/>
        </p:nvSpPr>
        <p:spPr>
          <a:xfrm>
            <a:off x="5214938" y="2971800"/>
            <a:ext cx="140374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Primeira Sprint Review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6675834" y="2971800"/>
            <a:ext cx="98226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2B7BB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 23/Jan/2026</a:t>
            </a:r>
            <a:endParaRPr lang="en-US" sz="987" dirty="0"/>
          </a:p>
        </p:txBody>
      </p:sp>
      <p:sp>
        <p:nvSpPr>
          <p:cNvPr id="42" name="Shape 39"/>
          <p:cNvSpPr/>
          <p:nvPr/>
        </p:nvSpPr>
        <p:spPr>
          <a:xfrm>
            <a:off x="428625" y="4286250"/>
            <a:ext cx="8286750" cy="571500"/>
          </a:xfrm>
          <a:prstGeom prst="rect">
            <a:avLst/>
          </a:prstGeom>
          <a:solidFill>
            <a:srgbClr val="2631FF"/>
          </a:solidFill>
          <a:ln/>
        </p:spPr>
      </p:sp>
      <p:sp>
        <p:nvSpPr>
          <p:cNvPr id="44" name="Text 41"/>
          <p:cNvSpPr/>
          <p:nvPr/>
        </p:nvSpPr>
        <p:spPr>
          <a:xfrm>
            <a:off x="1683246" y="4559498"/>
            <a:ext cx="57775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Contato do Projeto: </a:t>
            </a:r>
            <a:r>
              <a:rPr lang="en-US" sz="987" b="1" dirty="0">
                <a:solidFill>
                  <a:srgbClr val="BADCE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Escritório de Projetos Itaú Uniclass</a:t>
            </a: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Área de Tecnologia Financeira</a:t>
            </a:r>
            <a:endParaRPr lang="en-US" sz="1050" dirty="0"/>
          </a:p>
        </p:txBody>
      </p:sp>
      <p:sp>
        <p:nvSpPr>
          <p:cNvPr id="45" name="Shape 23">
            <a:extLst>
              <a:ext uri="{FF2B5EF4-FFF2-40B4-BE49-F238E27FC236}">
                <a16:creationId xmlns:a16="http://schemas.microsoft.com/office/drawing/2014/main" id="{91FD1109-F99B-F0B6-700C-1C8F69EEDA5B}"/>
              </a:ext>
            </a:extLst>
          </p:cNvPr>
          <p:cNvSpPr/>
          <p:nvPr/>
        </p:nvSpPr>
        <p:spPr>
          <a:xfrm>
            <a:off x="4929188" y="2285999"/>
            <a:ext cx="200025" cy="200025"/>
          </a:xfrm>
          <a:prstGeom prst="ellipse">
            <a:avLst/>
          </a:prstGeom>
          <a:solidFill>
            <a:srgbClr val="F36203"/>
          </a:solidFill>
          <a:ln/>
        </p:spPr>
        <p:txBody>
          <a:bodyPr anchor="ctr"/>
          <a:lstStyle/>
          <a:p>
            <a:pPr algn="ctr"/>
            <a:r>
              <a:rPr lang="pt-BR" sz="105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6" name="Shape 23">
            <a:extLst>
              <a:ext uri="{FF2B5EF4-FFF2-40B4-BE49-F238E27FC236}">
                <a16:creationId xmlns:a16="http://schemas.microsoft.com/office/drawing/2014/main" id="{AF19A2CD-15C7-FB85-57C1-B4EB216A1307}"/>
              </a:ext>
            </a:extLst>
          </p:cNvPr>
          <p:cNvSpPr/>
          <p:nvPr/>
        </p:nvSpPr>
        <p:spPr>
          <a:xfrm>
            <a:off x="4928617" y="2628900"/>
            <a:ext cx="200025" cy="200025"/>
          </a:xfrm>
          <a:prstGeom prst="ellipse">
            <a:avLst/>
          </a:prstGeom>
          <a:solidFill>
            <a:srgbClr val="F36203"/>
          </a:solidFill>
          <a:ln/>
        </p:spPr>
        <p:txBody>
          <a:bodyPr anchor="ctr"/>
          <a:lstStyle/>
          <a:p>
            <a:pPr algn="ctr"/>
            <a:r>
              <a:rPr lang="pt-BR" sz="105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7" name="Shape 23">
            <a:extLst>
              <a:ext uri="{FF2B5EF4-FFF2-40B4-BE49-F238E27FC236}">
                <a16:creationId xmlns:a16="http://schemas.microsoft.com/office/drawing/2014/main" id="{D31D6DFD-717B-C88D-2962-FCF5407B374F}"/>
              </a:ext>
            </a:extLst>
          </p:cNvPr>
          <p:cNvSpPr/>
          <p:nvPr/>
        </p:nvSpPr>
        <p:spPr>
          <a:xfrm>
            <a:off x="4924134" y="2971799"/>
            <a:ext cx="200025" cy="200025"/>
          </a:xfrm>
          <a:prstGeom prst="ellipse">
            <a:avLst/>
          </a:prstGeom>
          <a:solidFill>
            <a:srgbClr val="F36203"/>
          </a:solidFill>
          <a:ln/>
        </p:spPr>
        <p:txBody>
          <a:bodyPr anchor="ctr"/>
          <a:lstStyle/>
          <a:p>
            <a:pPr algn="ctr"/>
            <a:r>
              <a:rPr lang="pt-BR" sz="1050" dirty="0">
                <a:solidFill>
                  <a:schemeClr val="bg1"/>
                </a:solidFill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1087</Words>
  <Application>Microsoft Macintosh PowerPoint</Application>
  <PresentationFormat>Apresentação na tela (16:9)</PresentationFormat>
  <Paragraphs>196</Paragraphs>
  <Slides>10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Roboto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Gabriel F Silva</cp:lastModifiedBy>
  <cp:revision>2</cp:revision>
  <dcterms:created xsi:type="dcterms:W3CDTF">2026-04-14T00:27:44Z</dcterms:created>
  <dcterms:modified xsi:type="dcterms:W3CDTF">2026-04-14T03:28:06Z</dcterms:modified>
</cp:coreProperties>
</file>